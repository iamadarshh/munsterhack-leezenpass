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The animation loops while you walk on. Pause, then: "Hands up if you've ever had a Leeze stolen." Wait two seconds. "Keep your hand up if you got it back." Most hands go down. Move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0:10–0:40. "In 2025, over 4,500 bikes were reported stolen in Münster. That's one in seven of all reported crimes, and only one in eight cases gets solved. Per resident, no city in Germany loses more bikes than we do. That's roughly 5.8 million euros a year. And the tools that should help are gone: the police bike-pass app was discontinued, and online registration in Münster no longer exists." Say the numbers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"That's the problem we worked on this weekend. I'm Adarsh, and together with Niharika, Viola, Frank and Phillip we built LeezenPass: a digital bike pass for Münster that makes stolen Leezen hard to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1:00–1:30. "Bikes get stolen because they're easy to sell. So we don't build a better lock. We make stolen bikes hard to sell. LeezenPass does three things: it deters, because registered bikes are hard to resell; it lets buyers verify a bike before they buy; and it helps owners recover stolen bikes.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1:30–2:10 (video 41 s, starts by itself, silent, loops; a click pauses it). Narrate over it: "I take one photo of my bike and one of the frame number. The AI recognises type, colours, brand and the frame number, locally, in seconds. I check the suggestions; nothing is saved automatically. Registered, and my bike pass is ready as a PDF for police and insurance." Mention once: all data in the demo is Demo-Daten.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2:10–2:40 (video 27 s). "Now I'm a buyer on Kleinanzeigen. No login, I just type the frame number. Red: this bike is reported stolen. Don't buy it, don't confront the seller, call 110. I can compare photo and features, but I never see who the owner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2:40–3:25 (video 42 s). "How do we know the owner is really the owner? I photograph the receipt, and the AI checks brand, model and date. The app shows a one-time code, valid for 10 minutes. I photograph the frame number with the code next to it. Now the bike is 'Per Beleg geprüft', and I earn 20 goodwill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3:25–3:55. Answer the jury's doubts before they ask. "You might ask: what if a thief registers the bike first? Every bike has a visible trust level. Self-declared is just the start; 'Per Beleg geprüft' needs the receipt and a live photo with a code; the highest level comes from bike shops and ADFC coding events. A thief's entry stays self-declared, and the real owner can claim the bike back. And privacy is built in: the check never tells anyone that a clean bike is registered, and no personal data appears on public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3:55–4:25. "A registry is only useful if people use it. So we meet them where bikes change hands: bike shops register at purchase, the ADFC registers while coding frames, first-year students get it in their welcome pack, and we'd like to talk to insurers about easier claims. Goodwill points reward verified outcomes, not spam: 10 for registering, 20 for verified ownership, 10 via a partner. They turn into badges, a monthly 'Leezen-Held:in', and we plan partner perks like service discounts. And because it's open source, Göttingen and Freiburg, the next two cities on the list, can use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4:25–4:55. "Here's what we'd like to do next: with the city, match found bikes at the Fundfahrradstation against stolen ones; with the ADFC, register bikes at their coding appointments; with the police, recommend LeezenPass and check frame numbers; and through the Solution Enabler Programme and DIGIFARM.MS, run it for real. We'd love to pilot this in Münster. Who's in?" Stop talking, smile, wait for applause.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not part of the 5 minutes. Show it only in Q&amp;A when someone asks "what does it do today?" or "what's real and what's mock?". "Everything on the left runs in the code you just saw, with demo data. Everything on the right is the roadmap and needs partners: the city for found bikes, bike shops and the ADFC for partner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iamAdarshh/MunsterHack-LeezenPass"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slideLayout" Target="../slideLayouts/slideLayout1.xml"/><Relationship Id="rId20"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5D5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5D58"/>
              </a:gs>
              <a:gs pos="60000">
                <a:srgbClr val="0B3935"/>
              </a:gs>
              <a:gs pos="100000">
                <a:srgbClr val="092E2C"/>
              </a:gs>
            </a:gsLst>
            <a:lin ang="1800000" scaled="0"/>
          </a:gradFill>
          <a:ln/>
        </p:spPr>
      </p:sp>
      <p:pic>
        <p:nvPicPr>
          <p:cNvPr id="3" name="Image 0" descr="Animation: a young woman rides her red bike along the river through the city">    </p:cNvPr>
          <p:cNvPicPr>
            <a:picLocks noChangeAspect="1"/>
          </p:cNvPicPr>
          <p:nvPr/>
        </p:nvPicPr>
        <p:blipFill>
          <a:blip r:embed="rId1"/>
          <a:srcRect l="1" r="1" t="0" b="0"/>
          <a:stretch/>
        </p:blipFill>
        <p:spPr>
          <a:xfrm>
            <a:off x="812800" y="1352550"/>
            <a:ext cx="6350000" cy="4152900"/>
          </a:xfrm>
          <a:prstGeom prst="roundRect">
            <a:avLst>
              <a:gd name="adj" fmla="val 4281"/>
            </a:avLst>
          </a:prstGeom>
          <a:effectLst>
            <a:outerShdw sx="100000" sy="100000" kx="0" ky="0" algn="bl" rotWithShape="0" blurRad="406400" dist="152400" dir="5400000">
              <a:srgbClr val="000000">
                <a:alpha val="35000"/>
              </a:srgbClr>
            </a:outerShdw>
          </a:effectLst>
        </p:spPr>
      </p:pic>
      <p:sp>
        <p:nvSpPr>
          <p:cNvPr id="4" name="Text 1"/>
          <p:cNvSpPr/>
          <p:nvPr/>
        </p:nvSpPr>
        <p:spPr>
          <a:xfrm>
            <a:off x="7620000" y="2284710"/>
            <a:ext cx="3871976"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7FE3D1"/>
                </a:solidFill>
                <a:latin typeface="Inter" pitchFamily="34" charset="0"/>
                <a:ea typeface="Inter" pitchFamily="34" charset="-122"/>
                <a:cs typeface="Inter" pitchFamily="34" charset="-120"/>
              </a:rPr>
              <a:t>MÜNSTERHACK 2026</a:t>
            </a:r>
            <a:endParaRPr lang="en-US" sz="1500" dirty="0"/>
          </a:p>
        </p:txBody>
      </p:sp>
      <p:sp>
        <p:nvSpPr>
          <p:cNvPr id="5" name="Text 2"/>
          <p:cNvSpPr/>
          <p:nvPr/>
        </p:nvSpPr>
        <p:spPr>
          <a:xfrm>
            <a:off x="7620000" y="2729210"/>
            <a:ext cx="3871976" cy="1869380"/>
          </a:xfrm>
          <a:prstGeom prst="rect">
            <a:avLst/>
          </a:prstGeom>
          <a:noFill/>
          <a:ln/>
        </p:spPr>
        <p:txBody>
          <a:bodyPr wrap="square" lIns="0" tIns="0" rIns="0" bIns="0" rtlCol="0" anchor="t">
            <a:normAutofit/>
          </a:bodyPr>
          <a:lstStyle/>
          <a:p>
            <a:pPr algn="l" indent="0" marL="0">
              <a:lnSpc>
                <a:spcPts val="4840"/>
              </a:lnSpc>
              <a:buNone/>
            </a:pPr>
            <a:r>
              <a:rPr lang="en-US" sz="4400" b="1" spc="-100" kern="0" dirty="0">
                <a:solidFill>
                  <a:srgbClr val="F8FCFB"/>
                </a:solidFill>
                <a:latin typeface="Inter" pitchFamily="34" charset="0"/>
                <a:ea typeface="Inter" pitchFamily="34" charset="-122"/>
                <a:cs typeface="Inter" pitchFamily="34" charset="-120"/>
              </a:rPr>
              <a:t>Who has ever had a Bike stolen?</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0D756B"/>
                </a:solidFill>
                <a:latin typeface="Inter" pitchFamily="34" charset="0"/>
                <a:ea typeface="Inter" pitchFamily="34" charset="-122"/>
                <a:cs typeface="Inter" pitchFamily="34" charset="-120"/>
              </a:rPr>
              <a:t>MÜNSTERHACK 2026 · THE PROBLEM</a:t>
            </a:r>
            <a:endParaRPr lang="en-US" sz="1500" dirty="0"/>
          </a:p>
        </p:txBody>
      </p:sp>
      <p:sp>
        <p:nvSpPr>
          <p:cNvPr id="3" name="Text 1"/>
          <p:cNvSpPr/>
          <p:nvPr/>
        </p:nvSpPr>
        <p:spPr>
          <a:xfrm>
            <a:off x="812800" y="11811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0C2F2C"/>
                </a:solidFill>
                <a:latin typeface="Inter" pitchFamily="34" charset="0"/>
                <a:ea typeface="Inter" pitchFamily="34" charset="-122"/>
                <a:cs typeface="Inter" pitchFamily="34" charset="-120"/>
              </a:rPr>
              <a:t>Bike theft in Münster, 2025</a:t>
            </a:r>
            <a:endParaRPr lang="en-US" sz="3600" dirty="0"/>
          </a:p>
        </p:txBody>
      </p:sp>
      <p:sp>
        <p:nvSpPr>
          <p:cNvPr id="4" name="Text 2"/>
          <p:cNvSpPr/>
          <p:nvPr/>
        </p:nvSpPr>
        <p:spPr>
          <a:xfrm>
            <a:off x="812800" y="1937941"/>
            <a:ext cx="4106208" cy="1549400"/>
          </a:xfrm>
          <a:prstGeom prst="rect">
            <a:avLst/>
          </a:prstGeom>
          <a:noFill/>
          <a:ln/>
        </p:spPr>
        <p:txBody>
          <a:bodyPr wrap="square" lIns="0" tIns="0" rIns="0" bIns="0" rtlCol="0" anchor="t">
            <a:normAutofit/>
          </a:bodyPr>
          <a:lstStyle/>
          <a:p>
            <a:pPr algn="l" indent="0" marL="0">
              <a:lnSpc>
                <a:spcPts val="12000"/>
              </a:lnSpc>
              <a:buNone/>
            </a:pPr>
            <a:r>
              <a:rPr lang="en-US" sz="12000" b="1" spc="-300" kern="0" dirty="0">
                <a:solidFill>
                  <a:srgbClr val="C20006"/>
                </a:solidFill>
                <a:latin typeface="Inter" pitchFamily="34" charset="0"/>
                <a:ea typeface="Inter" pitchFamily="34" charset="-122"/>
                <a:cs typeface="Inter" pitchFamily="34" charset="-120"/>
              </a:rPr>
              <a:t>4,561</a:t>
            </a:r>
            <a:endParaRPr lang="en-US" sz="12000" dirty="0"/>
          </a:p>
        </p:txBody>
      </p:sp>
      <p:sp>
        <p:nvSpPr>
          <p:cNvPr id="5" name="Text 3"/>
          <p:cNvSpPr/>
          <p:nvPr/>
        </p:nvSpPr>
        <p:spPr>
          <a:xfrm>
            <a:off x="812800" y="3512741"/>
            <a:ext cx="41062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6663"/>
                </a:solidFill>
                <a:latin typeface="Inter" pitchFamily="34" charset="0"/>
                <a:ea typeface="Inter" pitchFamily="34" charset="-122"/>
                <a:cs typeface="Inter" pitchFamily="34" charset="-120"/>
              </a:rPr>
              <a:t>bikes reported stolen</a:t>
            </a:r>
            <a:endParaRPr lang="en-US" sz="1600" dirty="0"/>
          </a:p>
        </p:txBody>
      </p:sp>
      <p:sp>
        <p:nvSpPr>
          <p:cNvPr id="6" name="Text 4"/>
          <p:cNvSpPr/>
          <p:nvPr/>
        </p:nvSpPr>
        <p:spPr>
          <a:xfrm>
            <a:off x="5307409" y="1966615"/>
            <a:ext cx="2996162" cy="388541"/>
          </a:xfrm>
          <a:prstGeom prst="rect">
            <a:avLst/>
          </a:prstGeom>
          <a:noFill/>
          <a:ln/>
        </p:spPr>
        <p:txBody>
          <a:bodyPr wrap="square" lIns="0" tIns="0" rIns="0" bIns="0" rtlCol="0" anchor="t">
            <a:normAutofit/>
          </a:bodyPr>
          <a:lstStyle/>
          <a:p>
            <a:pPr algn="l" indent="0" marL="0">
              <a:lnSpc>
                <a:spcPts val="2860"/>
              </a:lnSpc>
              <a:buNone/>
            </a:pPr>
            <a:r>
              <a:rPr lang="en-US" sz="2600" b="1" spc="-50" kern="0" dirty="0">
                <a:solidFill>
                  <a:srgbClr val="0C2F2C"/>
                </a:solidFill>
                <a:latin typeface="Inter" pitchFamily="34" charset="0"/>
                <a:ea typeface="Inter" pitchFamily="34" charset="-122"/>
                <a:cs typeface="Inter" pitchFamily="34" charset="-120"/>
              </a:rPr>
              <a:t>1 in 7</a:t>
            </a:r>
            <a:endParaRPr lang="en-US" sz="2600" dirty="0"/>
          </a:p>
        </p:txBody>
      </p:sp>
      <p:sp>
        <p:nvSpPr>
          <p:cNvPr id="7" name="Text 5"/>
          <p:cNvSpPr/>
          <p:nvPr/>
        </p:nvSpPr>
        <p:spPr>
          <a:xfrm>
            <a:off x="5307409" y="2380555"/>
            <a:ext cx="299616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6663"/>
                </a:solidFill>
                <a:latin typeface="Inter" pitchFamily="34" charset="0"/>
                <a:ea typeface="Inter" pitchFamily="34" charset="-122"/>
                <a:cs typeface="Inter" pitchFamily="34" charset="-120"/>
              </a:rPr>
              <a:t>of all reported crimes</a:t>
            </a:r>
            <a:endParaRPr lang="en-US" sz="1400" dirty="0"/>
          </a:p>
        </p:txBody>
      </p:sp>
      <p:sp>
        <p:nvSpPr>
          <p:cNvPr id="8" name="Text 6"/>
          <p:cNvSpPr/>
          <p:nvPr/>
        </p:nvSpPr>
        <p:spPr>
          <a:xfrm>
            <a:off x="8470305" y="1966615"/>
            <a:ext cx="2996162" cy="388541"/>
          </a:xfrm>
          <a:prstGeom prst="rect">
            <a:avLst/>
          </a:prstGeom>
          <a:noFill/>
          <a:ln/>
        </p:spPr>
        <p:txBody>
          <a:bodyPr wrap="square" lIns="0" tIns="0" rIns="0" bIns="0" rtlCol="0" anchor="t">
            <a:normAutofit/>
          </a:bodyPr>
          <a:lstStyle/>
          <a:p>
            <a:pPr algn="l" indent="0" marL="0">
              <a:lnSpc>
                <a:spcPts val="2860"/>
              </a:lnSpc>
              <a:buNone/>
            </a:pPr>
            <a:r>
              <a:rPr lang="en-US" sz="2600" b="1" spc="-50" kern="0" dirty="0">
                <a:solidFill>
                  <a:srgbClr val="0C2F2C"/>
                </a:solidFill>
                <a:latin typeface="Inter" pitchFamily="34" charset="0"/>
                <a:ea typeface="Inter" pitchFamily="34" charset="-122"/>
                <a:cs typeface="Inter" pitchFamily="34" charset="-120"/>
              </a:rPr>
              <a:t>12.6%</a:t>
            </a:r>
            <a:endParaRPr lang="en-US" sz="2600" dirty="0"/>
          </a:p>
        </p:txBody>
      </p:sp>
      <p:sp>
        <p:nvSpPr>
          <p:cNvPr id="9" name="Text 7"/>
          <p:cNvSpPr/>
          <p:nvPr/>
        </p:nvSpPr>
        <p:spPr>
          <a:xfrm>
            <a:off x="8470305" y="2380555"/>
            <a:ext cx="299616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6663"/>
                </a:solidFill>
                <a:latin typeface="Inter" pitchFamily="34" charset="0"/>
                <a:ea typeface="Inter" pitchFamily="34" charset="-122"/>
                <a:cs typeface="Inter" pitchFamily="34" charset="-120"/>
              </a:rPr>
              <a:t>solved by the police</a:t>
            </a:r>
            <a:endParaRPr lang="en-US" sz="1400" dirty="0"/>
          </a:p>
        </p:txBody>
      </p:sp>
      <p:sp>
        <p:nvSpPr>
          <p:cNvPr id="10" name="Text 8"/>
          <p:cNvSpPr/>
          <p:nvPr/>
        </p:nvSpPr>
        <p:spPr>
          <a:xfrm>
            <a:off x="5307409" y="2874566"/>
            <a:ext cx="2996162" cy="388541"/>
          </a:xfrm>
          <a:prstGeom prst="rect">
            <a:avLst/>
          </a:prstGeom>
          <a:noFill/>
          <a:ln/>
        </p:spPr>
        <p:txBody>
          <a:bodyPr wrap="square" lIns="0" tIns="0" rIns="0" bIns="0" rtlCol="0" anchor="t">
            <a:normAutofit/>
          </a:bodyPr>
          <a:lstStyle/>
          <a:p>
            <a:pPr algn="l" indent="0" marL="0">
              <a:lnSpc>
                <a:spcPts val="2860"/>
              </a:lnSpc>
              <a:buNone/>
            </a:pPr>
            <a:r>
              <a:rPr lang="en-US" sz="2600" b="1" spc="-50" kern="0" dirty="0">
                <a:solidFill>
                  <a:srgbClr val="0C2F2C"/>
                </a:solidFill>
                <a:latin typeface="Inter" pitchFamily="34" charset="0"/>
                <a:ea typeface="Inter" pitchFamily="34" charset="-122"/>
                <a:cs typeface="Inter" pitchFamily="34" charset="-120"/>
              </a:rPr>
              <a:t>#1 in Germany</a:t>
            </a:r>
            <a:endParaRPr lang="en-US" sz="2600" dirty="0"/>
          </a:p>
        </p:txBody>
      </p:sp>
      <p:sp>
        <p:nvSpPr>
          <p:cNvPr id="11" name="Text 9"/>
          <p:cNvSpPr/>
          <p:nvPr/>
        </p:nvSpPr>
        <p:spPr>
          <a:xfrm>
            <a:off x="5307409" y="3288506"/>
            <a:ext cx="299616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6663"/>
                </a:solidFill>
                <a:latin typeface="Inter" pitchFamily="34" charset="0"/>
                <a:ea typeface="Inter" pitchFamily="34" charset="-122"/>
                <a:cs typeface="Inter" pitchFamily="34" charset="-120"/>
              </a:rPr>
              <a:t>≈1,500 thefts per 100,000 residents</a:t>
            </a:r>
            <a:endParaRPr lang="en-US" sz="1400" dirty="0"/>
          </a:p>
        </p:txBody>
      </p:sp>
      <p:sp>
        <p:nvSpPr>
          <p:cNvPr id="12" name="Text 10"/>
          <p:cNvSpPr/>
          <p:nvPr/>
        </p:nvSpPr>
        <p:spPr>
          <a:xfrm>
            <a:off x="8470305" y="2874566"/>
            <a:ext cx="2996162" cy="388541"/>
          </a:xfrm>
          <a:prstGeom prst="rect">
            <a:avLst/>
          </a:prstGeom>
          <a:noFill/>
          <a:ln/>
        </p:spPr>
        <p:txBody>
          <a:bodyPr wrap="square" lIns="0" tIns="0" rIns="0" bIns="0" rtlCol="0" anchor="t">
            <a:normAutofit/>
          </a:bodyPr>
          <a:lstStyle/>
          <a:p>
            <a:pPr algn="l" indent="0" marL="0">
              <a:lnSpc>
                <a:spcPts val="2860"/>
              </a:lnSpc>
              <a:buNone/>
            </a:pPr>
            <a:r>
              <a:rPr lang="en-US" sz="2600" b="1" spc="-50" kern="0" dirty="0">
                <a:solidFill>
                  <a:srgbClr val="0C2F2C"/>
                </a:solidFill>
                <a:latin typeface="Inter" pitchFamily="34" charset="0"/>
                <a:ea typeface="Inter" pitchFamily="34" charset="-122"/>
                <a:cs typeface="Inter" pitchFamily="34" charset="-120"/>
              </a:rPr>
              <a:t>≈ €5.8 M</a:t>
            </a:r>
            <a:endParaRPr lang="en-US" sz="2600" dirty="0"/>
          </a:p>
        </p:txBody>
      </p:sp>
      <p:sp>
        <p:nvSpPr>
          <p:cNvPr id="13" name="Text 11"/>
          <p:cNvSpPr/>
          <p:nvPr/>
        </p:nvSpPr>
        <p:spPr>
          <a:xfrm>
            <a:off x="8470305" y="3288506"/>
            <a:ext cx="299616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6663"/>
                </a:solidFill>
                <a:latin typeface="Inter" pitchFamily="34" charset="0"/>
                <a:ea typeface="Inter" pitchFamily="34" charset="-122"/>
                <a:cs typeface="Inter" pitchFamily="34" charset="-120"/>
              </a:rPr>
              <a:t>lost per year (4,561 × €1,270 average)</a:t>
            </a:r>
            <a:endParaRPr lang="en-US" sz="1400" dirty="0"/>
          </a:p>
        </p:txBody>
      </p:sp>
      <p:sp>
        <p:nvSpPr>
          <p:cNvPr id="14" name="Shape 12"/>
          <p:cNvSpPr/>
          <p:nvPr/>
        </p:nvSpPr>
        <p:spPr>
          <a:xfrm>
            <a:off x="819150" y="4057551"/>
            <a:ext cx="10553700" cy="647700"/>
          </a:xfrm>
          <a:prstGeom prst="roundRect">
            <a:avLst>
              <a:gd name="adj" fmla="val 14706"/>
            </a:avLst>
          </a:prstGeom>
          <a:solidFill>
            <a:srgbClr val="FCF2F1"/>
          </a:solidFill>
          <a:ln w="12700">
            <a:solidFill>
              <a:srgbClr val="FFD4D1"/>
            </a:solidFill>
            <a:prstDash val="solid"/>
          </a:ln>
        </p:spPr>
      </p:sp>
      <p:pic>
        <p:nvPicPr>
          <p:cNvPr id="15" name="Image 0" descr="Warning">    </p:cNvPr>
          <p:cNvPicPr>
            <a:picLocks noChangeAspect="1"/>
          </p:cNvPicPr>
          <p:nvPr/>
        </p:nvPicPr>
        <p:blipFill>
          <a:blip r:embed="rId1"/>
          <a:srcRect l="0" r="0" t="0" b="0"/>
          <a:stretch/>
        </p:blipFill>
        <p:spPr>
          <a:xfrm>
            <a:off x="1054100" y="4241701"/>
            <a:ext cx="279400" cy="279400"/>
          </a:xfrm>
          <a:prstGeom prst="rect">
            <a:avLst/>
          </a:prstGeom>
        </p:spPr>
      </p:pic>
      <p:sp>
        <p:nvSpPr>
          <p:cNvPr id="16" name="Text 13"/>
          <p:cNvSpPr/>
          <p:nvPr/>
        </p:nvSpPr>
        <p:spPr>
          <a:xfrm>
            <a:off x="1460500" y="4257576"/>
            <a:ext cx="920524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80111E"/>
                </a:solidFill>
                <a:latin typeface="Inter" pitchFamily="34" charset="0"/>
                <a:ea typeface="Inter" pitchFamily="34" charset="-122"/>
                <a:cs typeface="Inter" pitchFamily="34" charset="-120"/>
              </a:rPr>
              <a:t>The police bike-pass app was discontinued, and Münster's online bike registration no longer exists.</a:t>
            </a:r>
            <a:endParaRPr lang="en-US" sz="15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6663"/>
                </a:solidFill>
                <a:latin typeface="Inter" pitchFamily="34" charset="0"/>
                <a:ea typeface="Inter" pitchFamily="34" charset="-122"/>
                <a:cs typeface="Inter" pitchFamily="34" charset="-120"/>
              </a:rPr>
              <a:t>Sources: Polizei Münster, Kriminalstatistik 2025 · bikepass.eu (PKS 2025) · polizei-dein-partner.de · €5.8 M is our estimate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5D5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5D58"/>
              </a:gs>
              <a:gs pos="60000">
                <a:srgbClr val="0B3935"/>
              </a:gs>
              <a:gs pos="100000">
                <a:srgbClr val="092E2C"/>
              </a:gs>
            </a:gsLst>
            <a:lin ang="1800000" scaled="0"/>
          </a:gradFill>
          <a:ln/>
        </p:spPr>
      </p:sp>
      <p:sp>
        <p:nvSpPr>
          <p:cNvPr id="3" name="Text 1"/>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7FE3D1"/>
                </a:solidFill>
                <a:latin typeface="Inter" pitchFamily="34" charset="0"/>
                <a:ea typeface="Inter" pitchFamily="34" charset="-122"/>
                <a:cs typeface="Inter" pitchFamily="34" charset="-120"/>
              </a:rPr>
              <a:t>OUR ANSWER</a:t>
            </a:r>
            <a:endParaRPr lang="en-US" sz="1500" dirty="0"/>
          </a:p>
        </p:txBody>
      </p:sp>
      <p:sp>
        <p:nvSpPr>
          <p:cNvPr id="4" name="Text 2"/>
          <p:cNvSpPr/>
          <p:nvPr/>
        </p:nvSpPr>
        <p:spPr>
          <a:xfrm>
            <a:off x="812800" y="1257300"/>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F8FCFB"/>
                </a:solidFill>
                <a:latin typeface="Inter" pitchFamily="34" charset="0"/>
                <a:ea typeface="Inter" pitchFamily="34" charset="-122"/>
                <a:cs typeface="Inter" pitchFamily="34" charset="-120"/>
              </a:rPr>
              <a:t>LeezenPass</a:t>
            </a:r>
            <a:endParaRPr lang="en-US" sz="10000" dirty="0"/>
          </a:p>
        </p:txBody>
      </p:sp>
      <p:sp>
        <p:nvSpPr>
          <p:cNvPr id="5" name="Text 3"/>
          <p:cNvSpPr/>
          <p:nvPr/>
        </p:nvSpPr>
        <p:spPr>
          <a:xfrm>
            <a:off x="812800" y="270510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FE3E0"/>
                </a:solidFill>
                <a:latin typeface="Inter" pitchFamily="34" charset="0"/>
                <a:ea typeface="Inter" pitchFamily="34" charset="-122"/>
                <a:cs typeface="Inter" pitchFamily="34" charset="-120"/>
              </a:rPr>
              <a:t>The digital bike pass for Münster: making stolen Leezen hard to sell.</a:t>
            </a:r>
            <a:endParaRPr lang="en-US" sz="2200" dirty="0"/>
          </a:p>
        </p:txBody>
      </p:sp>
      <p:sp>
        <p:nvSpPr>
          <p:cNvPr id="6" name="Text 4"/>
          <p:cNvSpPr/>
          <p:nvPr/>
        </p:nvSpPr>
        <p:spPr>
          <a:xfrm>
            <a:off x="812800" y="544839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7FE3D1"/>
                </a:solidFill>
                <a:latin typeface="Inter" pitchFamily="34" charset="0"/>
                <a:ea typeface="Inter" pitchFamily="34" charset="-122"/>
                <a:cs typeface="Inter" pitchFamily="34" charset="-120"/>
              </a:rPr>
              <a:t>MÜNSTERHACK 2026 · TEAM</a:t>
            </a:r>
            <a:endParaRPr lang="en-US" sz="1400" dirty="0"/>
          </a:p>
        </p:txBody>
      </p:sp>
      <p:sp>
        <p:nvSpPr>
          <p:cNvPr id="7" name="Text 5"/>
          <p:cNvSpPr/>
          <p:nvPr/>
        </p:nvSpPr>
        <p:spPr>
          <a:xfrm>
            <a:off x="812800" y="574804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8FCFB"/>
                </a:solidFill>
                <a:latin typeface="Inter" pitchFamily="34" charset="0"/>
                <a:ea typeface="Inter" pitchFamily="34" charset="-122"/>
                <a:cs typeface="Inter" pitchFamily="34" charset="-120"/>
              </a:rPr>
              <a:t>Adarsh · Niharika · Viola · Frank · Phillip</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756B"/>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D8F7F0"/>
                </a:solidFill>
                <a:latin typeface="Inter" pitchFamily="34" charset="0"/>
                <a:ea typeface="Inter" pitchFamily="34" charset="-122"/>
                <a:cs typeface="Inter" pitchFamily="34" charset="-120"/>
              </a:rPr>
              <a:t>LEEZENPASS · THE INSIGHT</a:t>
            </a:r>
            <a:endParaRPr lang="en-US" sz="1500" dirty="0"/>
          </a:p>
        </p:txBody>
      </p:sp>
      <p:sp>
        <p:nvSpPr>
          <p:cNvPr id="3" name="Text 1"/>
          <p:cNvSpPr/>
          <p:nvPr/>
        </p:nvSpPr>
        <p:spPr>
          <a:xfrm>
            <a:off x="812800" y="123190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1" spc="-100" kern="0" dirty="0">
                <a:solidFill>
                  <a:srgbClr val="F8FCFB"/>
                </a:solidFill>
                <a:latin typeface="Inter" pitchFamily="34" charset="0"/>
                <a:ea typeface="Inter" pitchFamily="34" charset="-122"/>
                <a:cs typeface="Inter" pitchFamily="34" charset="-120"/>
              </a:rPr>
              <a:t>Bikes get stolen because they are easy to sell.</a:t>
            </a:r>
            <a:endParaRPr lang="en-US" sz="3800" dirty="0"/>
          </a:p>
          <a:p>
            <a:pPr algn="l" indent="0" marL="0">
              <a:lnSpc>
                <a:spcPts val="4180"/>
              </a:lnSpc>
              <a:buNone/>
            </a:pPr>
            <a:r>
              <a:rPr lang="en-US" sz="3800" b="1" spc="-100" kern="0" dirty="0">
                <a:solidFill>
                  <a:srgbClr val="F8FCFB"/>
                </a:solidFill>
                <a:latin typeface="Inter" pitchFamily="34" charset="0"/>
                <a:ea typeface="Inter" pitchFamily="34" charset="-122"/>
                <a:cs typeface="Inter" pitchFamily="34" charset="-120"/>
              </a:rPr>
              <a:t>LeezenPass makes them hard to sell.</a:t>
            </a:r>
            <a:endParaRPr lang="en-US" sz="3800" dirty="0"/>
          </a:p>
        </p:txBody>
      </p:sp>
      <p:sp>
        <p:nvSpPr>
          <p:cNvPr id="4" name="Shape 2"/>
          <p:cNvSpPr/>
          <p:nvPr/>
        </p:nvSpPr>
        <p:spPr>
          <a:xfrm>
            <a:off x="812800" y="3843040"/>
            <a:ext cx="3386634" cy="2202160"/>
          </a:xfrm>
          <a:prstGeom prst="roundRect">
            <a:avLst>
              <a:gd name="adj" fmla="val 5767"/>
            </a:avLst>
          </a:prstGeom>
          <a:solidFill>
            <a:srgbClr val="F7FBFA"/>
          </a:solidFill>
          <a:ln/>
        </p:spPr>
      </p:sp>
      <p:pic>
        <p:nvPicPr>
          <p:cNvPr id="5" name="Image 0" descr="Lock">    </p:cNvPr>
          <p:cNvPicPr>
            <a:picLocks noChangeAspect="1"/>
          </p:cNvPicPr>
          <p:nvPr/>
        </p:nvPicPr>
        <p:blipFill>
          <a:blip r:embed="rId1"/>
          <a:srcRect l="0" r="0" t="0" b="0"/>
          <a:stretch/>
        </p:blipFill>
        <p:spPr>
          <a:xfrm>
            <a:off x="1066800" y="4097040"/>
            <a:ext cx="355600" cy="355600"/>
          </a:xfrm>
          <a:prstGeom prst="rect">
            <a:avLst/>
          </a:prstGeom>
        </p:spPr>
      </p:pic>
      <p:sp>
        <p:nvSpPr>
          <p:cNvPr id="6" name="Text 3"/>
          <p:cNvSpPr/>
          <p:nvPr/>
        </p:nvSpPr>
        <p:spPr>
          <a:xfrm>
            <a:off x="1066800" y="4554240"/>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0C2F2C"/>
                </a:solidFill>
                <a:latin typeface="Inter" pitchFamily="34" charset="0"/>
                <a:ea typeface="Inter" pitchFamily="34" charset="-122"/>
                <a:cs typeface="Inter" pitchFamily="34" charset="-120"/>
              </a:rPr>
              <a:t>Deter</a:t>
            </a:r>
            <a:endParaRPr lang="en-US" sz="2200" dirty="0"/>
          </a:p>
        </p:txBody>
      </p:sp>
      <p:sp>
        <p:nvSpPr>
          <p:cNvPr id="7" name="Text 4"/>
          <p:cNvSpPr/>
          <p:nvPr/>
        </p:nvSpPr>
        <p:spPr>
          <a:xfrm>
            <a:off x="1066800" y="4991100"/>
            <a:ext cx="29649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6663"/>
                </a:solidFill>
                <a:latin typeface="Inter" pitchFamily="34" charset="0"/>
                <a:ea typeface="Inter" pitchFamily="34" charset="-122"/>
                <a:cs typeface="Inter" pitchFamily="34" charset="-120"/>
              </a:rPr>
              <a:t>Registered, coded bikes with a visible tag are hard to resell.</a:t>
            </a:r>
            <a:endParaRPr lang="en-US" sz="1500" dirty="0"/>
          </a:p>
        </p:txBody>
      </p:sp>
      <p:sp>
        <p:nvSpPr>
          <p:cNvPr id="8" name="Shape 5"/>
          <p:cNvSpPr/>
          <p:nvPr/>
        </p:nvSpPr>
        <p:spPr>
          <a:xfrm>
            <a:off x="4402634" y="3843040"/>
            <a:ext cx="3386733" cy="2202160"/>
          </a:xfrm>
          <a:prstGeom prst="roundRect">
            <a:avLst>
              <a:gd name="adj" fmla="val 5767"/>
            </a:avLst>
          </a:prstGeom>
          <a:solidFill>
            <a:srgbClr val="F7FBFA"/>
          </a:solidFill>
          <a:ln/>
        </p:spPr>
      </p:sp>
      <p:pic>
        <p:nvPicPr>
          <p:cNvPr id="9" name="Image 1" descr="Search">    </p:cNvPr>
          <p:cNvPicPr>
            <a:picLocks noChangeAspect="1"/>
          </p:cNvPicPr>
          <p:nvPr/>
        </p:nvPicPr>
        <p:blipFill>
          <a:blip r:embed="rId2"/>
          <a:srcRect l="0" r="0" t="0" b="0"/>
          <a:stretch/>
        </p:blipFill>
        <p:spPr>
          <a:xfrm>
            <a:off x="4656634" y="4097040"/>
            <a:ext cx="355600" cy="355600"/>
          </a:xfrm>
          <a:prstGeom prst="rect">
            <a:avLst/>
          </a:prstGeom>
        </p:spPr>
      </p:pic>
      <p:sp>
        <p:nvSpPr>
          <p:cNvPr id="10" name="Text 6"/>
          <p:cNvSpPr/>
          <p:nvPr/>
        </p:nvSpPr>
        <p:spPr>
          <a:xfrm>
            <a:off x="4656634" y="4554240"/>
            <a:ext cx="2965095"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0C2F2C"/>
                </a:solidFill>
                <a:latin typeface="Inter" pitchFamily="34" charset="0"/>
                <a:ea typeface="Inter" pitchFamily="34" charset="-122"/>
                <a:cs typeface="Inter" pitchFamily="34" charset="-120"/>
              </a:rPr>
              <a:t>Verify</a:t>
            </a:r>
            <a:endParaRPr lang="en-US" sz="2200" dirty="0"/>
          </a:p>
        </p:txBody>
      </p:sp>
      <p:sp>
        <p:nvSpPr>
          <p:cNvPr id="11" name="Text 7"/>
          <p:cNvSpPr/>
          <p:nvPr/>
        </p:nvSpPr>
        <p:spPr>
          <a:xfrm>
            <a:off x="4656634" y="4991100"/>
            <a:ext cx="296509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6663"/>
                </a:solidFill>
                <a:latin typeface="Inter" pitchFamily="34" charset="0"/>
                <a:ea typeface="Inter" pitchFamily="34" charset="-122"/>
                <a:cs typeface="Inter" pitchFamily="34" charset="-120"/>
              </a:rPr>
              <a:t>Buyers check the frame number; sellers hand over ownership digitally.</a:t>
            </a:r>
            <a:endParaRPr lang="en-US" sz="1500" dirty="0"/>
          </a:p>
        </p:txBody>
      </p:sp>
      <p:sp>
        <p:nvSpPr>
          <p:cNvPr id="12" name="Shape 8"/>
          <p:cNvSpPr/>
          <p:nvPr/>
        </p:nvSpPr>
        <p:spPr>
          <a:xfrm>
            <a:off x="7992566" y="3843040"/>
            <a:ext cx="3386634" cy="2202160"/>
          </a:xfrm>
          <a:prstGeom prst="roundRect">
            <a:avLst>
              <a:gd name="adj" fmla="val 5767"/>
            </a:avLst>
          </a:prstGeom>
          <a:solidFill>
            <a:srgbClr val="F7FBFA"/>
          </a:solidFill>
          <a:ln/>
        </p:spPr>
      </p:sp>
      <p:pic>
        <p:nvPicPr>
          <p:cNvPr id="13" name="Image 2" descr="Users">    </p:cNvPr>
          <p:cNvPicPr>
            <a:picLocks noChangeAspect="1"/>
          </p:cNvPicPr>
          <p:nvPr/>
        </p:nvPicPr>
        <p:blipFill>
          <a:blip r:embed="rId3"/>
          <a:srcRect l="0" r="0" t="0" b="0"/>
          <a:stretch/>
        </p:blipFill>
        <p:spPr>
          <a:xfrm>
            <a:off x="8246566" y="4097040"/>
            <a:ext cx="355600" cy="355600"/>
          </a:xfrm>
          <a:prstGeom prst="rect">
            <a:avLst/>
          </a:prstGeom>
        </p:spPr>
      </p:pic>
      <p:sp>
        <p:nvSpPr>
          <p:cNvPr id="14" name="Text 9"/>
          <p:cNvSpPr/>
          <p:nvPr/>
        </p:nvSpPr>
        <p:spPr>
          <a:xfrm>
            <a:off x="8246566" y="4554240"/>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spc="-50" kern="0" dirty="0">
                <a:solidFill>
                  <a:srgbClr val="0C2F2C"/>
                </a:solidFill>
                <a:latin typeface="Inter" pitchFamily="34" charset="0"/>
                <a:ea typeface="Inter" pitchFamily="34" charset="-122"/>
                <a:cs typeface="Inter" pitchFamily="34" charset="-120"/>
              </a:rPr>
              <a:t>Recover</a:t>
            </a:r>
            <a:endParaRPr lang="en-US" sz="2200" dirty="0"/>
          </a:p>
        </p:txBody>
      </p:sp>
      <p:sp>
        <p:nvSpPr>
          <p:cNvPr id="15" name="Text 10"/>
          <p:cNvSpPr/>
          <p:nvPr/>
        </p:nvSpPr>
        <p:spPr>
          <a:xfrm>
            <a:off x="8246566" y="4991100"/>
            <a:ext cx="296499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6663"/>
                </a:solidFill>
                <a:latin typeface="Inter" pitchFamily="34" charset="0"/>
                <a:ea typeface="Inter" pitchFamily="34" charset="-122"/>
                <a:cs typeface="Inter" pitchFamily="34" charset="-120"/>
              </a:rPr>
              <a:t>A public stolen list, and the community helps bring bikes home.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935"/>
        </a:solidFill>
      </p:bgPr>
    </p:bg>
    <p:spTree>
      <p:nvGrpSpPr>
        <p:cNvPr id="1" name=""/>
        <p:cNvGrpSpPr/>
        <p:nvPr/>
      </p:nvGrpSpPr>
      <p:grpSpPr>
        <a:xfrm>
          <a:off x="0" y="0"/>
          <a:ext cx="0" cy="0"/>
          <a:chOff x="0" y="0"/>
          <a:chExt cx="0" cy="0"/>
        </a:xfrm>
      </p:grpSpPr>
      <p:pic>
        <p:nvPicPr>
          <p:cNvPr id="2" name="Image 0" descr="Demo 1: a bike photo and a frame-number photo are uploaded, the AI fills in the bike pass, and the bike is registered">    </p:cNvPr>
          <p:cNvPicPr>
            <a:picLocks noChangeAspect="1"/>
          </p:cNvPicPr>
          <p:nvPr/>
        </p:nvPicPr>
        <p:blipFill>
          <a:blip r:embed="rId1"/>
          <a:srcRect l="0" r="0" t="0" b="0"/>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935"/>
        </a:solidFill>
      </p:bgPr>
    </p:bg>
    <p:spTree>
      <p:nvGrpSpPr>
        <p:cNvPr id="1" name=""/>
        <p:cNvGrpSpPr/>
        <p:nvPr/>
      </p:nvGrpSpPr>
      <p:grpSpPr>
        <a:xfrm>
          <a:off x="0" y="0"/>
          <a:ext cx="0" cy="0"/>
          <a:chOff x="0" y="0"/>
          <a:chExt cx="0" cy="0"/>
        </a:xfrm>
      </p:grpSpPr>
      <p:pic>
        <p:nvPicPr>
          <p:cNvPr id="2" name="Image 0" descr="Demo 2: a buyer enters a frame number without logging in and gets a red result, reported stolen, with photo and attributes to compare">    </p:cNvPr>
          <p:cNvPicPr>
            <a:picLocks noChangeAspect="1"/>
          </p:cNvPicPr>
          <p:nvPr/>
        </p:nvPicPr>
        <p:blipFill>
          <a:blip r:embed="rId1"/>
          <a:srcRect l="0" r="0" t="0" b="0"/>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935"/>
        </a:solidFill>
      </p:bgPr>
    </p:bg>
    <p:spTree>
      <p:nvGrpSpPr>
        <p:cNvPr id="1" name=""/>
        <p:cNvGrpSpPr/>
        <p:nvPr/>
      </p:nvGrpSpPr>
      <p:grpSpPr>
        <a:xfrm>
          <a:off x="0" y="0"/>
          <a:ext cx="0" cy="0"/>
          <a:chOff x="0" y="0"/>
          <a:chExt cx="0" cy="0"/>
        </a:xfrm>
      </p:grpSpPr>
      <p:pic>
        <p:nvPicPr>
          <p:cNvPr id="2" name="Image 0" descr="Demo 3: the owner photographs the receipt, gets a one-time code, photographs the frame number with the code, and the bike becomes Per Beleg geprüft with 20 goodwill points">    </p:cNvPr>
          <p:cNvPicPr>
            <a:picLocks noChangeAspect="1"/>
          </p:cNvPicPr>
          <p:nvPr/>
        </p:nvPicPr>
        <p:blipFill>
          <a:blip r:embed="rId1"/>
          <a:srcRect l="0" r="0" t="0" b="0"/>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0D756B"/>
                </a:solidFill>
                <a:latin typeface="Inter" pitchFamily="34" charset="0"/>
                <a:ea typeface="Inter" pitchFamily="34" charset="-122"/>
                <a:cs typeface="Inter" pitchFamily="34" charset="-120"/>
              </a:rPr>
              <a:t>LEEZENPASS · TRUST AND PRIVACY</a:t>
            </a:r>
            <a:endParaRPr lang="en-US" sz="1500" dirty="0"/>
          </a:p>
        </p:txBody>
      </p:sp>
      <p:sp>
        <p:nvSpPr>
          <p:cNvPr id="3" name="Text 1"/>
          <p:cNvSpPr/>
          <p:nvPr/>
        </p:nvSpPr>
        <p:spPr>
          <a:xfrm>
            <a:off x="812800" y="11811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0C2F2C"/>
                </a:solidFill>
                <a:latin typeface="Inter" pitchFamily="34" charset="0"/>
                <a:ea typeface="Inter" pitchFamily="34" charset="-122"/>
                <a:cs typeface="Inter" pitchFamily="34" charset="-120"/>
              </a:rPr>
              <a:t>Trust built in, privacy by design</a:t>
            </a:r>
            <a:endParaRPr lang="en-US" sz="3600" dirty="0"/>
          </a:p>
        </p:txBody>
      </p:sp>
      <p:sp>
        <p:nvSpPr>
          <p:cNvPr id="4" name="Text 2"/>
          <p:cNvSpPr/>
          <p:nvPr/>
        </p:nvSpPr>
        <p:spPr>
          <a:xfrm>
            <a:off x="812800" y="1988741"/>
            <a:ext cx="52324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756B"/>
                </a:solidFill>
                <a:latin typeface="Inter" pitchFamily="34" charset="0"/>
                <a:ea typeface="Inter" pitchFamily="34" charset="-122"/>
                <a:cs typeface="Inter" pitchFamily="34" charset="-120"/>
              </a:rPr>
              <a:t>Three trust levels</a:t>
            </a:r>
            <a:endParaRPr lang="en-US" sz="1800" dirty="0"/>
          </a:p>
        </p:txBody>
      </p:sp>
      <p:sp>
        <p:nvSpPr>
          <p:cNvPr id="5" name="Shape 3"/>
          <p:cNvSpPr/>
          <p:nvPr/>
        </p:nvSpPr>
        <p:spPr>
          <a:xfrm>
            <a:off x="812800" y="2440781"/>
            <a:ext cx="1710432" cy="332680"/>
          </a:xfrm>
          <a:prstGeom prst="roundRect">
            <a:avLst>
              <a:gd name="adj" fmla="val 50000"/>
            </a:avLst>
          </a:prstGeom>
          <a:solidFill>
            <a:srgbClr val="E1EBEA"/>
          </a:solidFill>
          <a:ln/>
        </p:spPr>
      </p:sp>
      <p:sp>
        <p:nvSpPr>
          <p:cNvPr id="6" name="Text 4"/>
          <p:cNvSpPr/>
          <p:nvPr/>
        </p:nvSpPr>
        <p:spPr>
          <a:xfrm>
            <a:off x="939800" y="2491581"/>
            <a:ext cx="150723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F2C"/>
                </a:solidFill>
                <a:latin typeface="Inter" pitchFamily="34" charset="0"/>
                <a:ea typeface="Inter" pitchFamily="34" charset="-122"/>
                <a:cs typeface="Inter" pitchFamily="34" charset="-120"/>
              </a:rPr>
              <a:t>Selbst angegeben</a:t>
            </a:r>
            <a:endParaRPr lang="en-US" sz="1300" dirty="0"/>
          </a:p>
        </p:txBody>
      </p:sp>
      <p:sp>
        <p:nvSpPr>
          <p:cNvPr id="7" name="Text 5"/>
          <p:cNvSpPr/>
          <p:nvPr/>
        </p:nvSpPr>
        <p:spPr>
          <a:xfrm>
            <a:off x="812800" y="2836962"/>
            <a:ext cx="52324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6663"/>
                </a:solidFill>
                <a:latin typeface="Inter" pitchFamily="34" charset="0"/>
                <a:ea typeface="Inter" pitchFamily="34" charset="-122"/>
                <a:cs typeface="Inter" pitchFamily="34" charset="-120"/>
              </a:rPr>
              <a:t>Registered with a verified email</a:t>
            </a:r>
            <a:endParaRPr lang="en-US" sz="1400" dirty="0"/>
          </a:p>
        </p:txBody>
      </p:sp>
      <p:sp>
        <p:nvSpPr>
          <p:cNvPr id="8" name="Shape 6"/>
          <p:cNvSpPr/>
          <p:nvPr/>
        </p:nvSpPr>
        <p:spPr>
          <a:xfrm>
            <a:off x="812800" y="3263602"/>
            <a:ext cx="1654870" cy="332680"/>
          </a:xfrm>
          <a:prstGeom prst="roundRect">
            <a:avLst>
              <a:gd name="adj" fmla="val 50000"/>
            </a:avLst>
          </a:prstGeom>
          <a:solidFill>
            <a:srgbClr val="D2F2EA"/>
          </a:solidFill>
          <a:ln/>
        </p:spPr>
      </p:sp>
      <p:sp>
        <p:nvSpPr>
          <p:cNvPr id="9" name="Text 7"/>
          <p:cNvSpPr/>
          <p:nvPr/>
        </p:nvSpPr>
        <p:spPr>
          <a:xfrm>
            <a:off x="939800" y="3314402"/>
            <a:ext cx="14516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A5A52"/>
                </a:solidFill>
                <a:latin typeface="Inter" pitchFamily="34" charset="0"/>
                <a:ea typeface="Inter" pitchFamily="34" charset="-122"/>
                <a:cs typeface="Inter" pitchFamily="34" charset="-120"/>
              </a:rPr>
              <a:t>Per Beleg geprüft</a:t>
            </a:r>
            <a:endParaRPr lang="en-US" sz="1300" dirty="0"/>
          </a:p>
        </p:txBody>
      </p:sp>
      <p:sp>
        <p:nvSpPr>
          <p:cNvPr id="10" name="Text 8"/>
          <p:cNvSpPr/>
          <p:nvPr/>
        </p:nvSpPr>
        <p:spPr>
          <a:xfrm>
            <a:off x="812800" y="3659783"/>
            <a:ext cx="52324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6663"/>
                </a:solidFill>
                <a:latin typeface="Inter" pitchFamily="34" charset="0"/>
                <a:ea typeface="Inter" pitchFamily="34" charset="-122"/>
                <a:cs typeface="Inter" pitchFamily="34" charset="-120"/>
              </a:rPr>
              <a:t>Receipt plus a photo with a 10-minute code</a:t>
            </a:r>
            <a:endParaRPr lang="en-US" sz="1400" dirty="0"/>
          </a:p>
        </p:txBody>
      </p:sp>
      <p:sp>
        <p:nvSpPr>
          <p:cNvPr id="11" name="Shape 9"/>
          <p:cNvSpPr/>
          <p:nvPr/>
        </p:nvSpPr>
        <p:spPr>
          <a:xfrm>
            <a:off x="812800" y="4086423"/>
            <a:ext cx="1971477" cy="332680"/>
          </a:xfrm>
          <a:prstGeom prst="roundRect">
            <a:avLst>
              <a:gd name="adj" fmla="val 50000"/>
            </a:avLst>
          </a:prstGeom>
          <a:solidFill>
            <a:srgbClr val="0D756B"/>
          </a:solidFill>
          <a:ln/>
        </p:spPr>
      </p:sp>
      <p:sp>
        <p:nvSpPr>
          <p:cNvPr id="12" name="Text 10"/>
          <p:cNvSpPr/>
          <p:nvPr/>
        </p:nvSpPr>
        <p:spPr>
          <a:xfrm>
            <a:off x="939800" y="4137223"/>
            <a:ext cx="176900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8FCFB"/>
                </a:solidFill>
                <a:latin typeface="Inter" pitchFamily="34" charset="0"/>
                <a:ea typeface="Inter" pitchFamily="34" charset="-122"/>
                <a:cs typeface="Inter" pitchFamily="34" charset="-120"/>
              </a:rPr>
              <a:t>Von Partner bestätigt</a:t>
            </a:r>
            <a:endParaRPr lang="en-US" sz="1300" dirty="0"/>
          </a:p>
        </p:txBody>
      </p:sp>
      <p:sp>
        <p:nvSpPr>
          <p:cNvPr id="13" name="Text 11"/>
          <p:cNvSpPr/>
          <p:nvPr/>
        </p:nvSpPr>
        <p:spPr>
          <a:xfrm>
            <a:off x="812800" y="4482604"/>
            <a:ext cx="52324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6663"/>
                </a:solidFill>
                <a:latin typeface="Inter" pitchFamily="34" charset="0"/>
                <a:ea typeface="Inter" pitchFamily="34" charset="-122"/>
                <a:cs typeface="Inter" pitchFamily="34" charset="-120"/>
              </a:rPr>
              <a:t>Registered by a bike shop or at an ADFC event</a:t>
            </a:r>
            <a:endParaRPr lang="en-US" sz="1400" dirty="0"/>
          </a:p>
        </p:txBody>
      </p:sp>
      <p:sp>
        <p:nvSpPr>
          <p:cNvPr id="14" name="Text 12"/>
          <p:cNvSpPr/>
          <p:nvPr/>
        </p:nvSpPr>
        <p:spPr>
          <a:xfrm>
            <a:off x="6299200" y="1988741"/>
            <a:ext cx="52324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756B"/>
                </a:solidFill>
                <a:latin typeface="Inter" pitchFamily="34" charset="0"/>
                <a:ea typeface="Inter" pitchFamily="34" charset="-122"/>
                <a:cs typeface="Inter" pitchFamily="34" charset="-120"/>
              </a:rPr>
              <a:t>Privacy rules</a:t>
            </a:r>
            <a:endParaRPr lang="en-US" sz="1800" dirty="0"/>
          </a:p>
        </p:txBody>
      </p:sp>
      <p:pic>
        <p:nvPicPr>
          <p:cNvPr id="15" name="Image 0" descr="CheckCircle">    </p:cNvPr>
          <p:cNvPicPr>
            <a:picLocks noChangeAspect="1"/>
          </p:cNvPicPr>
          <p:nvPr/>
        </p:nvPicPr>
        <p:blipFill>
          <a:blip r:embed="rId1"/>
          <a:srcRect l="-329" r="-329" t="0" b="0"/>
          <a:stretch/>
        </p:blipFill>
        <p:spPr>
          <a:xfrm>
            <a:off x="6299200" y="2415381"/>
            <a:ext cx="242888" cy="254000"/>
          </a:xfrm>
          <a:prstGeom prst="rect">
            <a:avLst/>
          </a:prstGeom>
        </p:spPr>
      </p:pic>
      <p:sp>
        <p:nvSpPr>
          <p:cNvPr id="16" name="Text 13"/>
          <p:cNvSpPr/>
          <p:nvPr/>
        </p:nvSpPr>
        <p:spPr>
          <a:xfrm>
            <a:off x="6643688" y="2415381"/>
            <a:ext cx="487757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C2F2C"/>
                </a:solidFill>
                <a:latin typeface="Inter" pitchFamily="34" charset="0"/>
                <a:ea typeface="Inter" pitchFamily="34" charset="-122"/>
                <a:cs typeface="Inter" pitchFamily="34" charset="-120"/>
              </a:rPr>
              <a:t>The check never reveals that a clean bike is registered.</a:t>
            </a:r>
            <a:endParaRPr lang="en-US" sz="1500" dirty="0"/>
          </a:p>
        </p:txBody>
      </p:sp>
      <p:pic>
        <p:nvPicPr>
          <p:cNvPr id="17" name="Image 1" descr="CheckCircle">    </p:cNvPr>
          <p:cNvPicPr>
            <a:picLocks noChangeAspect="1"/>
          </p:cNvPicPr>
          <p:nvPr/>
        </p:nvPicPr>
        <p:blipFill>
          <a:blip r:embed="rId2"/>
          <a:srcRect l="0" r="0" t="-125" b="-125"/>
          <a:stretch/>
        </p:blipFill>
        <p:spPr>
          <a:xfrm>
            <a:off x="6299200" y="3101181"/>
            <a:ext cx="158353" cy="254000"/>
          </a:xfrm>
          <a:prstGeom prst="rect">
            <a:avLst/>
          </a:prstGeom>
        </p:spPr>
      </p:pic>
      <p:sp>
        <p:nvSpPr>
          <p:cNvPr id="18" name="Text 14"/>
          <p:cNvSpPr/>
          <p:nvPr/>
        </p:nvSpPr>
        <p:spPr>
          <a:xfrm>
            <a:off x="6559153" y="3101181"/>
            <a:ext cx="496464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C2F2C"/>
                </a:solidFill>
                <a:latin typeface="Inter" pitchFamily="34" charset="0"/>
                <a:ea typeface="Inter" pitchFamily="34" charset="-122"/>
                <a:cs typeface="Inter" pitchFamily="34" charset="-120"/>
              </a:rPr>
              <a:t>Thief registers first? It stays "self-declared"; the owner claims it back with the receipt.</a:t>
            </a:r>
            <a:endParaRPr lang="en-US" sz="1500" dirty="0"/>
          </a:p>
        </p:txBody>
      </p:sp>
      <p:pic>
        <p:nvPicPr>
          <p:cNvPr id="19" name="Image 2" descr="CheckCircle">    </p:cNvPr>
          <p:cNvPicPr>
            <a:picLocks noChangeAspect="1"/>
          </p:cNvPicPr>
          <p:nvPr/>
        </p:nvPicPr>
        <p:blipFill>
          <a:blip r:embed="rId3"/>
          <a:srcRect l="-379" r="-379" t="0" b="0"/>
          <a:stretch/>
        </p:blipFill>
        <p:spPr>
          <a:xfrm>
            <a:off x="6299200" y="3786981"/>
            <a:ext cx="211138" cy="254000"/>
          </a:xfrm>
          <a:prstGeom prst="rect">
            <a:avLst/>
          </a:prstGeom>
        </p:spPr>
      </p:pic>
      <p:sp>
        <p:nvSpPr>
          <p:cNvPr id="20" name="Text 15"/>
          <p:cNvSpPr/>
          <p:nvPr/>
        </p:nvSpPr>
        <p:spPr>
          <a:xfrm>
            <a:off x="6611938" y="3786981"/>
            <a:ext cx="49102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C2F2C"/>
                </a:solidFill>
                <a:latin typeface="Inter" pitchFamily="34" charset="0"/>
                <a:ea typeface="Inter" pitchFamily="34" charset="-122"/>
                <a:cs typeface="Inter" pitchFamily="34" charset="-120"/>
              </a:rPr>
              <a:t>FEIN codes stored only as a hash; photo location data removed.</a:t>
            </a:r>
            <a:endParaRPr lang="en-US" sz="1500" dirty="0"/>
          </a:p>
        </p:txBody>
      </p:sp>
      <p:pic>
        <p:nvPicPr>
          <p:cNvPr id="21" name="Image 3" descr="CheckCircle">    </p:cNvPr>
          <p:cNvPicPr>
            <a:picLocks noChangeAspect="1"/>
          </p:cNvPicPr>
          <p:nvPr/>
        </p:nvPicPr>
        <p:blipFill>
          <a:blip r:embed="rId4"/>
          <a:srcRect l="0" r="0" t="0" b="0"/>
          <a:stretch/>
        </p:blipFill>
        <p:spPr>
          <a:xfrm>
            <a:off x="6299200" y="4472781"/>
            <a:ext cx="254000" cy="254000"/>
          </a:xfrm>
          <a:prstGeom prst="rect">
            <a:avLst/>
          </a:prstGeom>
        </p:spPr>
      </p:pic>
      <p:sp>
        <p:nvSpPr>
          <p:cNvPr id="22" name="Text 16"/>
          <p:cNvSpPr/>
          <p:nvPr/>
        </p:nvSpPr>
        <p:spPr>
          <a:xfrm>
            <a:off x="6654800" y="4472781"/>
            <a:ext cx="345961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C2F2C"/>
                </a:solidFill>
                <a:latin typeface="Inter" pitchFamily="34" charset="0"/>
                <a:ea typeface="Inter" pitchFamily="34" charset="-122"/>
                <a:cs typeface="Inter" pitchFamily="34" charset="-120"/>
              </a:rPr>
              <a:t>No personal data on any public page.</a:t>
            </a:r>
            <a:endParaRPr lang="en-US" sz="1500" dirty="0"/>
          </a:p>
        </p:txBody>
      </p:sp>
      <p:sp>
        <p:nvSpPr>
          <p:cNvPr id="23"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756B"/>
                </a:solidFill>
                <a:latin typeface="Inter" pitchFamily="34" charset="0"/>
                <a:ea typeface="Inter" pitchFamily="34" charset="-122"/>
                <a:cs typeface="Inter" pitchFamily="34" charset="-120"/>
              </a:rPr>
              <a:t>MÜNSTERHACK 2026 · LeezenPass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5D5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5D58"/>
              </a:gs>
              <a:gs pos="60000">
                <a:srgbClr val="0B3935"/>
              </a:gs>
              <a:gs pos="100000">
                <a:srgbClr val="092E2C"/>
              </a:gs>
            </a:gsLst>
            <a:lin ang="1800000" scaled="0"/>
          </a:gradFill>
          <a:ln/>
        </p:spPr>
      </p:sp>
      <p:sp>
        <p:nvSpPr>
          <p:cNvPr id="3" name="Text 1"/>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7FE3D1"/>
                </a:solidFill>
                <a:latin typeface="Inter" pitchFamily="34" charset="0"/>
                <a:ea typeface="Inter" pitchFamily="34" charset="-122"/>
                <a:cs typeface="Inter" pitchFamily="34" charset="-120"/>
              </a:rPr>
              <a:t>LEEZENPASS · ADOPTION</a:t>
            </a:r>
            <a:endParaRPr lang="en-US" sz="1500" dirty="0"/>
          </a:p>
        </p:txBody>
      </p:sp>
      <p:sp>
        <p:nvSpPr>
          <p:cNvPr id="4" name="Text 2"/>
          <p:cNvSpPr/>
          <p:nvPr/>
        </p:nvSpPr>
        <p:spPr>
          <a:xfrm>
            <a:off x="812800" y="11811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F8FCFB"/>
                </a:solidFill>
                <a:latin typeface="Inter" pitchFamily="34" charset="0"/>
                <a:ea typeface="Inter" pitchFamily="34" charset="-122"/>
                <a:cs typeface="Inter" pitchFamily="34" charset="-120"/>
              </a:rPr>
              <a:t>Getting every Leeze registered</a:t>
            </a:r>
            <a:endParaRPr lang="en-US" sz="3600" dirty="0"/>
          </a:p>
        </p:txBody>
      </p:sp>
      <p:sp>
        <p:nvSpPr>
          <p:cNvPr id="5" name="Shape 3"/>
          <p:cNvSpPr/>
          <p:nvPr/>
        </p:nvSpPr>
        <p:spPr>
          <a:xfrm>
            <a:off x="815975" y="1890316"/>
            <a:ext cx="2501900" cy="1966912"/>
          </a:xfrm>
          <a:prstGeom prst="roundRect">
            <a:avLst>
              <a:gd name="adj" fmla="val 6295"/>
            </a:avLst>
          </a:prstGeom>
          <a:solidFill>
            <a:srgbClr val="134A45"/>
          </a:solidFill>
          <a:ln w="6350">
            <a:solidFill>
              <a:srgbClr val="1F5F58"/>
            </a:solidFill>
            <a:prstDash val="solid"/>
          </a:ln>
        </p:spPr>
      </p:sp>
      <p:pic>
        <p:nvPicPr>
          <p:cNvPr id="6" name="Image 0" descr="Tool">    </p:cNvPr>
          <p:cNvPicPr>
            <a:picLocks noChangeAspect="1"/>
          </p:cNvPicPr>
          <p:nvPr/>
        </p:nvPicPr>
        <p:blipFill>
          <a:blip r:embed="rId1"/>
          <a:srcRect l="0" r="0" t="0" b="0"/>
          <a:stretch/>
        </p:blipFill>
        <p:spPr>
          <a:xfrm>
            <a:off x="1047750" y="2122091"/>
            <a:ext cx="304800" cy="304800"/>
          </a:xfrm>
          <a:prstGeom prst="rect">
            <a:avLst/>
          </a:prstGeom>
        </p:spPr>
      </p:pic>
      <p:sp>
        <p:nvSpPr>
          <p:cNvPr id="7" name="Text 4"/>
          <p:cNvSpPr/>
          <p:nvPr/>
        </p:nvSpPr>
        <p:spPr>
          <a:xfrm>
            <a:off x="1047750" y="2515791"/>
            <a:ext cx="209950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8FCFB"/>
                </a:solidFill>
                <a:latin typeface="Inter" pitchFamily="34" charset="0"/>
                <a:ea typeface="Inter" pitchFamily="34" charset="-122"/>
                <a:cs typeface="Inter" pitchFamily="34" charset="-120"/>
              </a:rPr>
              <a:t>Bike shops</a:t>
            </a:r>
            <a:endParaRPr lang="en-US" sz="1800" dirty="0"/>
          </a:p>
        </p:txBody>
      </p:sp>
      <p:sp>
        <p:nvSpPr>
          <p:cNvPr id="8" name="Text 5"/>
          <p:cNvSpPr/>
          <p:nvPr/>
        </p:nvSpPr>
        <p:spPr>
          <a:xfrm>
            <a:off x="1047750" y="2878931"/>
            <a:ext cx="209950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E0"/>
                </a:solidFill>
                <a:latin typeface="Inter" pitchFamily="34" charset="0"/>
                <a:ea typeface="Inter" pitchFamily="34" charset="-122"/>
                <a:cs typeface="Inter" pitchFamily="34" charset="-120"/>
              </a:rPr>
              <a:t>Register at purchase, fully verified from day one.</a:t>
            </a:r>
            <a:endParaRPr lang="en-US" sz="1400" dirty="0"/>
          </a:p>
        </p:txBody>
      </p:sp>
      <p:sp>
        <p:nvSpPr>
          <p:cNvPr id="9" name="Shape 6"/>
          <p:cNvSpPr/>
          <p:nvPr/>
        </p:nvSpPr>
        <p:spPr>
          <a:xfrm>
            <a:off x="3502025" y="1890316"/>
            <a:ext cx="2501900" cy="1966912"/>
          </a:xfrm>
          <a:prstGeom prst="roundRect">
            <a:avLst>
              <a:gd name="adj" fmla="val 6295"/>
            </a:avLst>
          </a:prstGeom>
          <a:solidFill>
            <a:srgbClr val="134A45"/>
          </a:solidFill>
          <a:ln w="6350">
            <a:solidFill>
              <a:srgbClr val="1F5F58"/>
            </a:solidFill>
            <a:prstDash val="solid"/>
          </a:ln>
        </p:spPr>
      </p:sp>
      <p:pic>
        <p:nvPicPr>
          <p:cNvPr id="10" name="Image 1" descr="Key">    </p:cNvPr>
          <p:cNvPicPr>
            <a:picLocks noChangeAspect="1"/>
          </p:cNvPicPr>
          <p:nvPr/>
        </p:nvPicPr>
        <p:blipFill>
          <a:blip r:embed="rId2"/>
          <a:srcRect l="0" r="0" t="0" b="0"/>
          <a:stretch/>
        </p:blipFill>
        <p:spPr>
          <a:xfrm>
            <a:off x="3733800" y="2122091"/>
            <a:ext cx="304800" cy="304800"/>
          </a:xfrm>
          <a:prstGeom prst="rect">
            <a:avLst/>
          </a:prstGeom>
        </p:spPr>
      </p:pic>
      <p:sp>
        <p:nvSpPr>
          <p:cNvPr id="11" name="Text 7"/>
          <p:cNvSpPr/>
          <p:nvPr/>
        </p:nvSpPr>
        <p:spPr>
          <a:xfrm>
            <a:off x="3733800" y="2515791"/>
            <a:ext cx="209950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8FCFB"/>
                </a:solidFill>
                <a:latin typeface="Inter" pitchFamily="34" charset="0"/>
                <a:ea typeface="Inter" pitchFamily="34" charset="-122"/>
                <a:cs typeface="Inter" pitchFamily="34" charset="-120"/>
              </a:rPr>
              <a:t>ADFC coding</a:t>
            </a:r>
            <a:endParaRPr lang="en-US" sz="1800" dirty="0"/>
          </a:p>
        </p:txBody>
      </p:sp>
      <p:sp>
        <p:nvSpPr>
          <p:cNvPr id="12" name="Text 8"/>
          <p:cNvSpPr/>
          <p:nvPr/>
        </p:nvSpPr>
        <p:spPr>
          <a:xfrm>
            <a:off x="3733800" y="2878931"/>
            <a:ext cx="209950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E0"/>
                </a:solidFill>
                <a:latin typeface="Inter" pitchFamily="34" charset="0"/>
                <a:ea typeface="Inter" pitchFamily="34" charset="-122"/>
                <a:cs typeface="Inter" pitchFamily="34" charset="-120"/>
              </a:rPr>
              <a:t>Register while the frame gets coded.</a:t>
            </a:r>
            <a:endParaRPr lang="en-US" sz="1400" dirty="0"/>
          </a:p>
        </p:txBody>
      </p:sp>
      <p:sp>
        <p:nvSpPr>
          <p:cNvPr id="13" name="Shape 9"/>
          <p:cNvSpPr/>
          <p:nvPr/>
        </p:nvSpPr>
        <p:spPr>
          <a:xfrm>
            <a:off x="6188075" y="1890316"/>
            <a:ext cx="2501900" cy="1966912"/>
          </a:xfrm>
          <a:prstGeom prst="roundRect">
            <a:avLst>
              <a:gd name="adj" fmla="val 6295"/>
            </a:avLst>
          </a:prstGeom>
          <a:solidFill>
            <a:srgbClr val="134A45"/>
          </a:solidFill>
          <a:ln w="6350">
            <a:solidFill>
              <a:srgbClr val="1F5F58"/>
            </a:solidFill>
            <a:prstDash val="solid"/>
          </a:ln>
        </p:spPr>
      </p:sp>
      <p:pic>
        <p:nvPicPr>
          <p:cNvPr id="14" name="Image 2" descr="GraduationCap">    </p:cNvPr>
          <p:cNvPicPr>
            <a:picLocks noChangeAspect="1"/>
          </p:cNvPicPr>
          <p:nvPr/>
        </p:nvPicPr>
        <p:blipFill>
          <a:blip r:embed="rId3"/>
          <a:srcRect l="0" r="0" t="0" b="0"/>
          <a:stretch/>
        </p:blipFill>
        <p:spPr>
          <a:xfrm>
            <a:off x="6419850" y="2122091"/>
            <a:ext cx="304800" cy="304800"/>
          </a:xfrm>
          <a:prstGeom prst="rect">
            <a:avLst/>
          </a:prstGeom>
        </p:spPr>
      </p:pic>
      <p:sp>
        <p:nvSpPr>
          <p:cNvPr id="15" name="Text 10"/>
          <p:cNvSpPr/>
          <p:nvPr/>
        </p:nvSpPr>
        <p:spPr>
          <a:xfrm>
            <a:off x="6419850" y="2515791"/>
            <a:ext cx="209950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8FCFB"/>
                </a:solidFill>
                <a:latin typeface="Inter" pitchFamily="34" charset="0"/>
                <a:ea typeface="Inter" pitchFamily="34" charset="-122"/>
                <a:cs typeface="Inter" pitchFamily="34" charset="-120"/>
              </a:rPr>
              <a:t>Students</a:t>
            </a:r>
            <a:endParaRPr lang="en-US" sz="1800" dirty="0"/>
          </a:p>
        </p:txBody>
      </p:sp>
      <p:sp>
        <p:nvSpPr>
          <p:cNvPr id="16" name="Text 11"/>
          <p:cNvSpPr/>
          <p:nvPr/>
        </p:nvSpPr>
        <p:spPr>
          <a:xfrm>
            <a:off x="6419850" y="2878931"/>
            <a:ext cx="209950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E0"/>
                </a:solidFill>
                <a:latin typeface="Inter" pitchFamily="34" charset="0"/>
                <a:ea typeface="Inter" pitchFamily="34" charset="-122"/>
                <a:cs typeface="Inter" pitchFamily="34" charset="-120"/>
              </a:rPr>
              <a:t>First-semester welcome through the AStA.</a:t>
            </a:r>
            <a:endParaRPr lang="en-US" sz="1400" dirty="0"/>
          </a:p>
        </p:txBody>
      </p:sp>
      <p:sp>
        <p:nvSpPr>
          <p:cNvPr id="17" name="Shape 12"/>
          <p:cNvSpPr/>
          <p:nvPr/>
        </p:nvSpPr>
        <p:spPr>
          <a:xfrm>
            <a:off x="8874125" y="1890316"/>
            <a:ext cx="2501900" cy="1966912"/>
          </a:xfrm>
          <a:prstGeom prst="roundRect">
            <a:avLst>
              <a:gd name="adj" fmla="val 6295"/>
            </a:avLst>
          </a:prstGeom>
          <a:solidFill>
            <a:srgbClr val="134A45"/>
          </a:solidFill>
          <a:ln w="6350">
            <a:solidFill>
              <a:srgbClr val="1F5F58"/>
            </a:solidFill>
            <a:prstDash val="solid"/>
          </a:ln>
        </p:spPr>
      </p:sp>
      <p:pic>
        <p:nvPicPr>
          <p:cNvPr id="18" name="Image 3" descr="Trust">    </p:cNvPr>
          <p:cNvPicPr>
            <a:picLocks noChangeAspect="1"/>
          </p:cNvPicPr>
          <p:nvPr/>
        </p:nvPicPr>
        <p:blipFill>
          <a:blip r:embed="rId4"/>
          <a:srcRect l="0" r="0" t="0" b="0"/>
          <a:stretch/>
        </p:blipFill>
        <p:spPr>
          <a:xfrm>
            <a:off x="9105900" y="2122091"/>
            <a:ext cx="304800" cy="304800"/>
          </a:xfrm>
          <a:prstGeom prst="rect">
            <a:avLst/>
          </a:prstGeom>
        </p:spPr>
      </p:pic>
      <p:sp>
        <p:nvSpPr>
          <p:cNvPr id="19" name="Text 13"/>
          <p:cNvSpPr/>
          <p:nvPr/>
        </p:nvSpPr>
        <p:spPr>
          <a:xfrm>
            <a:off x="9105900" y="2515791"/>
            <a:ext cx="209950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8FCFB"/>
                </a:solidFill>
                <a:latin typeface="Inter" pitchFamily="34" charset="0"/>
                <a:ea typeface="Inter" pitchFamily="34" charset="-122"/>
                <a:cs typeface="Inter" pitchFamily="34" charset="-120"/>
              </a:rPr>
              <a:t>Insurance</a:t>
            </a:r>
            <a:endParaRPr lang="en-US" sz="1800" dirty="0"/>
          </a:p>
        </p:txBody>
      </p:sp>
      <p:sp>
        <p:nvSpPr>
          <p:cNvPr id="20" name="Text 14"/>
          <p:cNvSpPr/>
          <p:nvPr/>
        </p:nvSpPr>
        <p:spPr>
          <a:xfrm>
            <a:off x="9105900" y="2878931"/>
            <a:ext cx="209950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E0"/>
                </a:solidFill>
                <a:latin typeface="Inter" pitchFamily="34" charset="0"/>
                <a:ea typeface="Inter" pitchFamily="34" charset="-122"/>
                <a:cs typeface="Inter" pitchFamily="34" charset="-120"/>
              </a:rPr>
              <a:t>Partner idea: easier claims for registered bikes.</a:t>
            </a:r>
            <a:endParaRPr lang="en-US" sz="1400" dirty="0"/>
          </a:p>
        </p:txBody>
      </p:sp>
      <p:sp>
        <p:nvSpPr>
          <p:cNvPr id="21" name="Shape 15"/>
          <p:cNvSpPr/>
          <p:nvPr/>
        </p:nvSpPr>
        <p:spPr>
          <a:xfrm>
            <a:off x="812800" y="4063603"/>
            <a:ext cx="10566400" cy="889000"/>
          </a:xfrm>
          <a:prstGeom prst="roundRect">
            <a:avLst>
              <a:gd name="adj" fmla="val 14286"/>
            </a:avLst>
          </a:prstGeom>
          <a:solidFill>
            <a:srgbClr val="FED02D"/>
          </a:solidFill>
          <a:ln/>
        </p:spPr>
      </p:sp>
      <p:sp>
        <p:nvSpPr>
          <p:cNvPr id="22" name="Text 16"/>
          <p:cNvSpPr/>
          <p:nvPr/>
        </p:nvSpPr>
        <p:spPr>
          <a:xfrm>
            <a:off x="1092200" y="4355703"/>
            <a:ext cx="1593056" cy="330200"/>
          </a:xfrm>
          <a:prstGeom prst="rect">
            <a:avLst/>
          </a:prstGeom>
          <a:noFill/>
          <a:ln/>
        </p:spPr>
        <p:txBody>
          <a:bodyPr wrap="none" lIns="0" tIns="0" rIns="0" bIns="0" rtlCol="0" anchor="t">
            <a:normAutofit/>
          </a:bodyPr>
          <a:lstStyle/>
          <a:p>
            <a:pPr algn="l" indent="0" marL="0">
              <a:lnSpc>
                <a:spcPts val="2400"/>
              </a:lnSpc>
              <a:buNone/>
            </a:pPr>
            <a:r>
              <a:rPr lang="en-US" sz="2000" b="1" dirty="0">
                <a:solidFill>
                  <a:srgbClr val="2B2400"/>
                </a:solidFill>
                <a:latin typeface="Inter" pitchFamily="34" charset="0"/>
                <a:ea typeface="Inter" pitchFamily="34" charset="-122"/>
                <a:cs typeface="Inter" pitchFamily="34" charset="-120"/>
              </a:rPr>
              <a:t>Goodwill points</a:t>
            </a:r>
            <a:endParaRPr lang="en-US" sz="2000" dirty="0"/>
          </a:p>
        </p:txBody>
      </p:sp>
      <p:sp>
        <p:nvSpPr>
          <p:cNvPr id="23" name="Text 17"/>
          <p:cNvSpPr/>
          <p:nvPr/>
        </p:nvSpPr>
        <p:spPr>
          <a:xfrm>
            <a:off x="2888456" y="4241403"/>
            <a:ext cx="84576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2400"/>
                </a:solidFill>
                <a:latin typeface="Inter" pitchFamily="34" charset="0"/>
                <a:ea typeface="Inter" pitchFamily="34" charset="-122"/>
                <a:cs typeface="Inter" pitchFamily="34" charset="-120"/>
              </a:rPr>
              <a:t>Badges, "Leezen-Held:in des Monats" and planned partner perks. Only verified outcomes count, never raw reports.</a:t>
            </a:r>
            <a:endParaRPr lang="en-US" sz="1500" dirty="0"/>
          </a:p>
        </p:txBody>
      </p:sp>
      <p:sp>
        <p:nvSpPr>
          <p:cNvPr id="24" name="Text 18"/>
          <p:cNvSpPr/>
          <p:nvPr/>
        </p:nvSpPr>
        <p:spPr>
          <a:xfrm>
            <a:off x="812800" y="515580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8FCFB"/>
                </a:solidFill>
                <a:latin typeface="Inter" pitchFamily="34" charset="0"/>
                <a:ea typeface="Inter" pitchFamily="34" charset="-122"/>
                <a:cs typeface="Inter" pitchFamily="34" charset="-120"/>
              </a:rPr>
              <a:t>Open source:</a:t>
            </a:r>
            <a:r>
              <a:rPr lang="en-US" sz="1500" dirty="0">
                <a:solidFill>
                  <a:srgbClr val="F8FCFB"/>
                </a:solidFill>
                <a:latin typeface="Inter" pitchFamily="34" charset="0"/>
                <a:ea typeface="Inter" pitchFamily="34" charset="-122"/>
                <a:cs typeface="Inter" pitchFamily="34" charset="-120"/>
              </a:rPr>
              <a:t> ready for Göttingen and Freiburg, #2 and #3 in thefts per resident.</a:t>
            </a:r>
            <a:endParaRPr lang="en-US" sz="1500" dirty="0"/>
          </a:p>
        </p:txBody>
      </p:sp>
      <p:sp>
        <p:nvSpPr>
          <p:cNvPr id="25"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E3D1"/>
                </a:solidFill>
                <a:latin typeface="Inter" pitchFamily="34" charset="0"/>
                <a:ea typeface="Inter" pitchFamily="34" charset="-122"/>
                <a:cs typeface="Inter" pitchFamily="34" charset="-120"/>
              </a:rPr>
              <a:t>MÜNSTERHACK 2026 · LeezenPass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5D5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5D58"/>
              </a:gs>
              <a:gs pos="60000">
                <a:srgbClr val="0B3935"/>
              </a:gs>
              <a:gs pos="100000">
                <a:srgbClr val="092E2C"/>
              </a:gs>
            </a:gsLst>
            <a:lin ang="1800000" scaled="0"/>
          </a:gradFill>
          <a:ln/>
        </p:spPr>
      </p:sp>
      <p:sp>
        <p:nvSpPr>
          <p:cNvPr id="3" name="Text 1"/>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7FE3D1"/>
                </a:solidFill>
                <a:latin typeface="Inter" pitchFamily="34" charset="0"/>
                <a:ea typeface="Inter" pitchFamily="34" charset="-122"/>
                <a:cs typeface="Inter" pitchFamily="34" charset="-120"/>
              </a:rPr>
              <a:t>LEEZENPASS · NEXT STEPS</a:t>
            </a:r>
            <a:endParaRPr lang="en-US" sz="1500" dirty="0"/>
          </a:p>
        </p:txBody>
      </p:sp>
      <p:sp>
        <p:nvSpPr>
          <p:cNvPr id="4" name="Text 2"/>
          <p:cNvSpPr/>
          <p:nvPr/>
        </p:nvSpPr>
        <p:spPr>
          <a:xfrm>
            <a:off x="812800" y="11811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F8FCFB"/>
                </a:solidFill>
                <a:latin typeface="Inter" pitchFamily="34" charset="0"/>
                <a:ea typeface="Inter" pitchFamily="34" charset="-122"/>
                <a:cs typeface="Inter" pitchFamily="34" charset="-120"/>
              </a:rPr>
              <a:t>Let's pilot LeezenPass in Münster</a:t>
            </a:r>
            <a:endParaRPr lang="en-US" sz="3600" dirty="0"/>
          </a:p>
        </p:txBody>
      </p:sp>
      <p:sp>
        <p:nvSpPr>
          <p:cNvPr id="5" name="Shape 3"/>
          <p:cNvSpPr/>
          <p:nvPr/>
        </p:nvSpPr>
        <p:spPr>
          <a:xfrm>
            <a:off x="815975" y="1941116"/>
            <a:ext cx="5200650" cy="1232991"/>
          </a:xfrm>
          <a:prstGeom prst="roundRect">
            <a:avLst>
              <a:gd name="adj" fmla="val 10043"/>
            </a:avLst>
          </a:prstGeom>
          <a:solidFill>
            <a:srgbClr val="134A45"/>
          </a:solidFill>
          <a:ln w="6350">
            <a:solidFill>
              <a:srgbClr val="1F5F58"/>
            </a:solidFill>
            <a:prstDash val="solid"/>
          </a:ln>
        </p:spPr>
      </p:sp>
      <p:sp>
        <p:nvSpPr>
          <p:cNvPr id="6" name="Text 4"/>
          <p:cNvSpPr/>
          <p:nvPr/>
        </p:nvSpPr>
        <p:spPr>
          <a:xfrm>
            <a:off x="1073150" y="2147491"/>
            <a:ext cx="48268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8FCFB"/>
                </a:solidFill>
                <a:latin typeface="Inter" pitchFamily="34" charset="0"/>
                <a:ea typeface="Inter" pitchFamily="34" charset="-122"/>
                <a:cs typeface="Inter" pitchFamily="34" charset="-120"/>
              </a:rPr>
              <a:t>Stadt Münster · Fundfahrradstation</a:t>
            </a:r>
            <a:endParaRPr lang="en-US" sz="1700" dirty="0"/>
          </a:p>
        </p:txBody>
      </p:sp>
      <p:sp>
        <p:nvSpPr>
          <p:cNvPr id="7" name="Text 5"/>
          <p:cNvSpPr/>
          <p:nvPr/>
        </p:nvSpPr>
        <p:spPr>
          <a:xfrm>
            <a:off x="1073150" y="2470051"/>
            <a:ext cx="482688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E0"/>
                </a:solidFill>
                <a:latin typeface="Inter" pitchFamily="34" charset="0"/>
                <a:ea typeface="Inter" pitchFamily="34" charset="-122"/>
                <a:cs typeface="Inter" pitchFamily="34" charset="-120"/>
              </a:rPr>
              <a:t>Daily export of found-bike frame numbers, so owners get notified.</a:t>
            </a:r>
            <a:endParaRPr lang="en-US" sz="1400" dirty="0"/>
          </a:p>
        </p:txBody>
      </p:sp>
      <p:sp>
        <p:nvSpPr>
          <p:cNvPr id="8" name="Shape 6"/>
          <p:cNvSpPr/>
          <p:nvPr/>
        </p:nvSpPr>
        <p:spPr>
          <a:xfrm>
            <a:off x="6175375" y="1941116"/>
            <a:ext cx="5200650" cy="1232991"/>
          </a:xfrm>
          <a:prstGeom prst="roundRect">
            <a:avLst>
              <a:gd name="adj" fmla="val 10043"/>
            </a:avLst>
          </a:prstGeom>
          <a:solidFill>
            <a:srgbClr val="134A45"/>
          </a:solidFill>
          <a:ln w="6350">
            <a:solidFill>
              <a:srgbClr val="1F5F58"/>
            </a:solidFill>
            <a:prstDash val="solid"/>
          </a:ln>
        </p:spPr>
      </p:sp>
      <p:sp>
        <p:nvSpPr>
          <p:cNvPr id="9" name="Text 7"/>
          <p:cNvSpPr/>
          <p:nvPr/>
        </p:nvSpPr>
        <p:spPr>
          <a:xfrm>
            <a:off x="6432550" y="2147491"/>
            <a:ext cx="48268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8FCFB"/>
                </a:solidFill>
                <a:latin typeface="Inter" pitchFamily="34" charset="0"/>
                <a:ea typeface="Inter" pitchFamily="34" charset="-122"/>
                <a:cs typeface="Inter" pitchFamily="34" charset="-120"/>
              </a:rPr>
              <a:t>ADFC Münsterland</a:t>
            </a:r>
            <a:endParaRPr lang="en-US" sz="1700" dirty="0"/>
          </a:p>
        </p:txBody>
      </p:sp>
      <p:sp>
        <p:nvSpPr>
          <p:cNvPr id="10" name="Text 8"/>
          <p:cNvSpPr/>
          <p:nvPr/>
        </p:nvSpPr>
        <p:spPr>
          <a:xfrm>
            <a:off x="6432550" y="2470051"/>
            <a:ext cx="48268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E0"/>
                </a:solidFill>
                <a:latin typeface="Inter" pitchFamily="34" charset="0"/>
                <a:ea typeface="Inter" pitchFamily="34" charset="-122"/>
                <a:cs typeface="Inter" pitchFamily="34" charset="-120"/>
              </a:rPr>
              <a:t>Register bikes at the monthly coding appointments.</a:t>
            </a:r>
            <a:endParaRPr lang="en-US" sz="1400" dirty="0"/>
          </a:p>
        </p:txBody>
      </p:sp>
      <p:sp>
        <p:nvSpPr>
          <p:cNvPr id="11" name="Shape 9"/>
          <p:cNvSpPr/>
          <p:nvPr/>
        </p:nvSpPr>
        <p:spPr>
          <a:xfrm>
            <a:off x="815975" y="3332857"/>
            <a:ext cx="5200650" cy="1232991"/>
          </a:xfrm>
          <a:prstGeom prst="roundRect">
            <a:avLst>
              <a:gd name="adj" fmla="val 10043"/>
            </a:avLst>
          </a:prstGeom>
          <a:solidFill>
            <a:srgbClr val="134A45"/>
          </a:solidFill>
          <a:ln w="6350">
            <a:solidFill>
              <a:srgbClr val="1F5F58"/>
            </a:solidFill>
            <a:prstDash val="solid"/>
          </a:ln>
        </p:spPr>
      </p:sp>
      <p:sp>
        <p:nvSpPr>
          <p:cNvPr id="12" name="Text 10"/>
          <p:cNvSpPr/>
          <p:nvPr/>
        </p:nvSpPr>
        <p:spPr>
          <a:xfrm>
            <a:off x="1073150" y="3539232"/>
            <a:ext cx="48268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8FCFB"/>
                </a:solidFill>
                <a:latin typeface="Inter" pitchFamily="34" charset="0"/>
                <a:ea typeface="Inter" pitchFamily="34" charset="-122"/>
                <a:cs typeface="Inter" pitchFamily="34" charset="-120"/>
              </a:rPr>
              <a:t>Polizei Münster · Prävention</a:t>
            </a:r>
            <a:endParaRPr lang="en-US" sz="1700" dirty="0"/>
          </a:p>
        </p:txBody>
      </p:sp>
      <p:sp>
        <p:nvSpPr>
          <p:cNvPr id="13" name="Text 11"/>
          <p:cNvSpPr/>
          <p:nvPr/>
        </p:nvSpPr>
        <p:spPr>
          <a:xfrm>
            <a:off x="1073150" y="3861792"/>
            <a:ext cx="482688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E0"/>
                </a:solidFill>
                <a:latin typeface="Inter" pitchFamily="34" charset="0"/>
                <a:ea typeface="Inter" pitchFamily="34" charset="-122"/>
                <a:cs typeface="Inter" pitchFamily="34" charset="-120"/>
              </a:rPr>
              <a:t>Recommend LeezenPass; officers check frame numbers.</a:t>
            </a:r>
            <a:endParaRPr lang="en-US" sz="1400" dirty="0"/>
          </a:p>
        </p:txBody>
      </p:sp>
      <p:sp>
        <p:nvSpPr>
          <p:cNvPr id="14" name="Shape 12"/>
          <p:cNvSpPr/>
          <p:nvPr/>
        </p:nvSpPr>
        <p:spPr>
          <a:xfrm>
            <a:off x="6175375" y="3332857"/>
            <a:ext cx="5200650" cy="1232991"/>
          </a:xfrm>
          <a:prstGeom prst="roundRect">
            <a:avLst>
              <a:gd name="adj" fmla="val 10043"/>
            </a:avLst>
          </a:prstGeom>
          <a:solidFill>
            <a:srgbClr val="134A45"/>
          </a:solidFill>
          <a:ln w="6350">
            <a:solidFill>
              <a:srgbClr val="1F5F58"/>
            </a:solidFill>
            <a:prstDash val="solid"/>
          </a:ln>
        </p:spPr>
      </p:sp>
      <p:sp>
        <p:nvSpPr>
          <p:cNvPr id="15" name="Text 13"/>
          <p:cNvSpPr/>
          <p:nvPr/>
        </p:nvSpPr>
        <p:spPr>
          <a:xfrm>
            <a:off x="6432550" y="3539232"/>
            <a:ext cx="48268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8FCFB"/>
                </a:solidFill>
                <a:latin typeface="Inter" pitchFamily="34" charset="0"/>
                <a:ea typeface="Inter" pitchFamily="34" charset="-122"/>
                <a:cs typeface="Inter" pitchFamily="34" charset="-120"/>
              </a:rPr>
              <a:t>Solution Enabler · DIGIFARM.MS</a:t>
            </a:r>
            <a:endParaRPr lang="en-US" sz="1700" dirty="0"/>
          </a:p>
        </p:txBody>
      </p:sp>
      <p:sp>
        <p:nvSpPr>
          <p:cNvPr id="16" name="Text 14"/>
          <p:cNvSpPr/>
          <p:nvPr/>
        </p:nvSpPr>
        <p:spPr>
          <a:xfrm>
            <a:off x="6432550" y="3861792"/>
            <a:ext cx="48268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E0"/>
                </a:solidFill>
                <a:latin typeface="Inter" pitchFamily="34" charset="0"/>
                <a:ea typeface="Inter" pitchFamily="34" charset="-122"/>
                <a:cs typeface="Inter" pitchFamily="34" charset="-120"/>
              </a:rPr>
              <a:t>Test it in Münster, then long-term hosting and care.</a:t>
            </a:r>
            <a:endParaRPr lang="en-US" sz="1400" dirty="0"/>
          </a:p>
        </p:txBody>
      </p:sp>
      <p:sp>
        <p:nvSpPr>
          <p:cNvPr id="17" name="Text 15"/>
          <p:cNvSpPr/>
          <p:nvPr/>
        </p:nvSpPr>
        <p:spPr>
          <a:xfrm>
            <a:off x="812800" y="4823023"/>
            <a:ext cx="3430901" cy="736600"/>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7FE3D1"/>
                </a:solidFill>
                <a:latin typeface="Inter" pitchFamily="34" charset="0"/>
                <a:ea typeface="Inter" pitchFamily="34" charset="-122"/>
                <a:cs typeface="Inter" pitchFamily="34" charset="-120"/>
              </a:rPr>
              <a:t>Who's in?</a:t>
            </a:r>
            <a:endParaRPr lang="en-US" sz="5600" dirty="0"/>
          </a:p>
        </p:txBody>
      </p:sp>
      <p:sp>
        <p:nvSpPr>
          <p:cNvPr id="18" name="Text 16"/>
          <p:cNvSpPr/>
          <p:nvPr/>
        </p:nvSpPr>
        <p:spPr>
          <a:xfrm>
            <a:off x="6966917" y="5036542"/>
            <a:ext cx="4412283" cy="52308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FE3E0"/>
                </a:solidFill>
                <a:latin typeface="Inter" pitchFamily="34" charset="0"/>
                <a:ea typeface="Inter" pitchFamily="34" charset="-122"/>
                <a:cs typeface="Inter" pitchFamily="34" charset="-120"/>
              </a:rPr>
              <a:t>Adarsh · Niharika · Viola · Frank · Phillip</a:t>
            </a:r>
            <a:endParaRPr lang="en-US" sz="1400" dirty="0"/>
          </a:p>
          <a:p>
            <a:pPr algn="r" indent="0" marL="0">
              <a:lnSpc>
                <a:spcPts val="1960"/>
              </a:lnSpc>
              <a:buNone/>
            </a:pPr>
            <a:r>
              <a:rPr lang="en-US" sz="1400" u="sng" dirty="0">
                <a:solidFill>
                  <a:srgbClr val="CFE3E0"/>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github.com/iamAdarshh/MunsterHack-LeezenPass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5D5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5D58"/>
              </a:gs>
              <a:gs pos="60000">
                <a:srgbClr val="0B3935"/>
              </a:gs>
              <a:gs pos="100000">
                <a:srgbClr val="092E2C"/>
              </a:gs>
            </a:gsLst>
            <a:lin ang="1800000" scaled="0"/>
          </a:gradFill>
          <a:ln/>
        </p:spPr>
      </p:sp>
      <p:sp>
        <p:nvSpPr>
          <p:cNvPr id="3" name="Text 1"/>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7FE3D1"/>
                </a:solidFill>
                <a:latin typeface="Inter" pitchFamily="34" charset="0"/>
                <a:ea typeface="Inter" pitchFamily="34" charset="-122"/>
                <a:cs typeface="Inter" pitchFamily="34" charset="-120"/>
              </a:rPr>
              <a:t>LEEZENPASS · APPENDIX</a:t>
            </a:r>
            <a:endParaRPr lang="en-US" sz="1500" dirty="0"/>
          </a:p>
        </p:txBody>
      </p:sp>
      <p:sp>
        <p:nvSpPr>
          <p:cNvPr id="4" name="Text 2"/>
          <p:cNvSpPr/>
          <p:nvPr/>
        </p:nvSpPr>
        <p:spPr>
          <a:xfrm>
            <a:off x="812800" y="11811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F8FCFB"/>
                </a:solidFill>
                <a:latin typeface="Inter" pitchFamily="34" charset="0"/>
                <a:ea typeface="Inter" pitchFamily="34" charset="-122"/>
                <a:cs typeface="Inter" pitchFamily="34" charset="-120"/>
              </a:rPr>
              <a:t>What's built, what's next</a:t>
            </a:r>
            <a:endParaRPr lang="en-US" sz="3600" dirty="0"/>
          </a:p>
        </p:txBody>
      </p:sp>
      <p:sp>
        <p:nvSpPr>
          <p:cNvPr id="5" name="Shape 3"/>
          <p:cNvSpPr/>
          <p:nvPr/>
        </p:nvSpPr>
        <p:spPr>
          <a:xfrm>
            <a:off x="815975" y="1941116"/>
            <a:ext cx="5124450" cy="3835003"/>
          </a:xfrm>
          <a:prstGeom prst="roundRect">
            <a:avLst>
              <a:gd name="adj" fmla="val 3229"/>
            </a:avLst>
          </a:prstGeom>
          <a:solidFill>
            <a:srgbClr val="134A45"/>
          </a:solidFill>
          <a:ln w="6350">
            <a:solidFill>
              <a:srgbClr val="1F5F58"/>
            </a:solidFill>
            <a:prstDash val="solid"/>
          </a:ln>
        </p:spPr>
      </p:sp>
      <p:sp>
        <p:nvSpPr>
          <p:cNvPr id="6" name="Text 4"/>
          <p:cNvSpPr/>
          <p:nvPr/>
        </p:nvSpPr>
        <p:spPr>
          <a:xfrm>
            <a:off x="1073150" y="2147491"/>
            <a:ext cx="47484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7FE3D1"/>
                </a:solidFill>
                <a:latin typeface="Inter" pitchFamily="34" charset="0"/>
                <a:ea typeface="Inter" pitchFamily="34" charset="-122"/>
                <a:cs typeface="Inter" pitchFamily="34" charset="-120"/>
              </a:rPr>
              <a:t>Built this weekend</a:t>
            </a:r>
            <a:endParaRPr lang="en-US" sz="2000" dirty="0"/>
          </a:p>
        </p:txBody>
      </p:sp>
      <p:pic>
        <p:nvPicPr>
          <p:cNvPr id="7" name="Image 0" descr="CheckCircle">    </p:cNvPr>
          <p:cNvPicPr>
            <a:picLocks noChangeAspect="1"/>
          </p:cNvPicPr>
          <p:nvPr/>
        </p:nvPicPr>
        <p:blipFill>
          <a:blip r:embed="rId1"/>
          <a:srcRect l="0" r="0" t="0" b="0"/>
          <a:stretch/>
        </p:blipFill>
        <p:spPr>
          <a:xfrm>
            <a:off x="1073150" y="2551013"/>
            <a:ext cx="203200" cy="203200"/>
          </a:xfrm>
          <a:prstGeom prst="rect">
            <a:avLst/>
          </a:prstGeom>
        </p:spPr>
      </p:pic>
      <p:sp>
        <p:nvSpPr>
          <p:cNvPr id="8" name="Text 5"/>
          <p:cNvSpPr/>
          <p:nvPr/>
        </p:nvSpPr>
        <p:spPr>
          <a:xfrm>
            <a:off x="1365250" y="2541191"/>
            <a:ext cx="358930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Digital bike pass with photos and PDF export</a:t>
            </a:r>
            <a:endParaRPr lang="en-US" sz="1300" dirty="0"/>
          </a:p>
        </p:txBody>
      </p:sp>
      <p:pic>
        <p:nvPicPr>
          <p:cNvPr id="9" name="Image 1" descr="CheckCircle">    </p:cNvPr>
          <p:cNvPicPr>
            <a:picLocks noChangeAspect="1"/>
          </p:cNvPicPr>
          <p:nvPr/>
        </p:nvPicPr>
        <p:blipFill>
          <a:blip r:embed="rId2"/>
          <a:srcRect l="0" r="0" t="0" b="0"/>
          <a:stretch/>
        </p:blipFill>
        <p:spPr>
          <a:xfrm>
            <a:off x="1073150" y="2862759"/>
            <a:ext cx="203200" cy="203200"/>
          </a:xfrm>
          <a:prstGeom prst="rect">
            <a:avLst/>
          </a:prstGeom>
        </p:spPr>
      </p:pic>
      <p:sp>
        <p:nvSpPr>
          <p:cNvPr id="10" name="Text 6"/>
          <p:cNvSpPr/>
          <p:nvPr/>
        </p:nvSpPr>
        <p:spPr>
          <a:xfrm>
            <a:off x="1365250" y="2852936"/>
            <a:ext cx="295722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AI prefill from photos, running locally</a:t>
            </a:r>
            <a:endParaRPr lang="en-US" sz="1300" dirty="0"/>
          </a:p>
        </p:txBody>
      </p:sp>
      <p:pic>
        <p:nvPicPr>
          <p:cNvPr id="11" name="Image 2" descr="CheckCircle">    </p:cNvPr>
          <p:cNvPicPr>
            <a:picLocks noChangeAspect="1"/>
          </p:cNvPicPr>
          <p:nvPr/>
        </p:nvPicPr>
        <p:blipFill>
          <a:blip r:embed="rId3"/>
          <a:srcRect l="0" r="0" t="0" b="0"/>
          <a:stretch/>
        </p:blipFill>
        <p:spPr>
          <a:xfrm>
            <a:off x="1073150" y="3174504"/>
            <a:ext cx="203200" cy="203200"/>
          </a:xfrm>
          <a:prstGeom prst="rect">
            <a:avLst/>
          </a:prstGeom>
        </p:spPr>
      </p:pic>
      <p:sp>
        <p:nvSpPr>
          <p:cNvPr id="12" name="Text 7"/>
          <p:cNvSpPr/>
          <p:nvPr/>
        </p:nvSpPr>
        <p:spPr>
          <a:xfrm>
            <a:off x="1365250" y="3164681"/>
            <a:ext cx="354392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Public check by frame number or FEIN code</a:t>
            </a:r>
            <a:endParaRPr lang="en-US" sz="1300" dirty="0"/>
          </a:p>
        </p:txBody>
      </p:sp>
      <p:pic>
        <p:nvPicPr>
          <p:cNvPr id="13" name="Image 3" descr="CheckCircle">    </p:cNvPr>
          <p:cNvPicPr>
            <a:picLocks noChangeAspect="1"/>
          </p:cNvPicPr>
          <p:nvPr/>
        </p:nvPicPr>
        <p:blipFill>
          <a:blip r:embed="rId4"/>
          <a:srcRect l="0" r="0" t="0" b="0"/>
          <a:stretch/>
        </p:blipFill>
        <p:spPr>
          <a:xfrm>
            <a:off x="1073150" y="3486249"/>
            <a:ext cx="203200" cy="203200"/>
          </a:xfrm>
          <a:prstGeom prst="rect">
            <a:avLst/>
          </a:prstGeom>
        </p:spPr>
      </p:pic>
      <p:sp>
        <p:nvSpPr>
          <p:cNvPr id="14" name="Text 8"/>
          <p:cNvSpPr/>
          <p:nvPr/>
        </p:nvSpPr>
        <p:spPr>
          <a:xfrm>
            <a:off x="1365250" y="3476427"/>
            <a:ext cx="265278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Theft report and public stolen list</a:t>
            </a:r>
            <a:endParaRPr lang="en-US" sz="1300" dirty="0"/>
          </a:p>
        </p:txBody>
      </p:sp>
      <p:pic>
        <p:nvPicPr>
          <p:cNvPr id="15" name="Image 4" descr="CheckCircle">    </p:cNvPr>
          <p:cNvPicPr>
            <a:picLocks noChangeAspect="1"/>
          </p:cNvPicPr>
          <p:nvPr/>
        </p:nvPicPr>
        <p:blipFill>
          <a:blip r:embed="rId5"/>
          <a:srcRect l="0" r="0" t="0" b="0"/>
          <a:stretch/>
        </p:blipFill>
        <p:spPr>
          <a:xfrm>
            <a:off x="1073150" y="3797995"/>
            <a:ext cx="203200" cy="203200"/>
          </a:xfrm>
          <a:prstGeom prst="rect">
            <a:avLst/>
          </a:prstGeom>
        </p:spPr>
      </p:pic>
      <p:sp>
        <p:nvSpPr>
          <p:cNvPr id="16" name="Text 9"/>
          <p:cNvSpPr/>
          <p:nvPr/>
        </p:nvSpPr>
        <p:spPr>
          <a:xfrm>
            <a:off x="1365250" y="3788172"/>
            <a:ext cx="329324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Ownership transfer with a one-time code</a:t>
            </a:r>
            <a:endParaRPr lang="en-US" sz="1300" dirty="0"/>
          </a:p>
        </p:txBody>
      </p:sp>
      <p:pic>
        <p:nvPicPr>
          <p:cNvPr id="17" name="Image 5" descr="CheckCircle">    </p:cNvPr>
          <p:cNvPicPr>
            <a:picLocks noChangeAspect="1"/>
          </p:cNvPicPr>
          <p:nvPr/>
        </p:nvPicPr>
        <p:blipFill>
          <a:blip r:embed="rId6"/>
          <a:srcRect l="0" r="0" t="0" b="0"/>
          <a:stretch/>
        </p:blipFill>
        <p:spPr>
          <a:xfrm>
            <a:off x="1073150" y="4109740"/>
            <a:ext cx="203200" cy="203200"/>
          </a:xfrm>
          <a:prstGeom prst="rect">
            <a:avLst/>
          </a:prstGeom>
        </p:spPr>
      </p:pic>
      <p:sp>
        <p:nvSpPr>
          <p:cNvPr id="18" name="Text 10"/>
          <p:cNvSpPr/>
          <p:nvPr/>
        </p:nvSpPr>
        <p:spPr>
          <a:xfrm>
            <a:off x="1365250" y="4099917"/>
            <a:ext cx="312390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Ownership proof: receipt + code photo</a:t>
            </a:r>
            <a:endParaRPr lang="en-US" sz="1300" dirty="0"/>
          </a:p>
        </p:txBody>
      </p:sp>
      <p:pic>
        <p:nvPicPr>
          <p:cNvPr id="19" name="Image 6" descr="CheckCircle">    </p:cNvPr>
          <p:cNvPicPr>
            <a:picLocks noChangeAspect="1"/>
          </p:cNvPicPr>
          <p:nvPr/>
        </p:nvPicPr>
        <p:blipFill>
          <a:blip r:embed="rId7"/>
          <a:srcRect l="0" r="0" t="0" b="0"/>
          <a:stretch/>
        </p:blipFill>
        <p:spPr>
          <a:xfrm>
            <a:off x="1073150" y="4421485"/>
            <a:ext cx="203200" cy="203200"/>
          </a:xfrm>
          <a:prstGeom prst="rect">
            <a:avLst/>
          </a:prstGeom>
        </p:spPr>
      </p:pic>
      <p:sp>
        <p:nvSpPr>
          <p:cNvPr id="20" name="Text 11"/>
          <p:cNvSpPr/>
          <p:nvPr/>
        </p:nvSpPr>
        <p:spPr>
          <a:xfrm>
            <a:off x="1365250" y="4411663"/>
            <a:ext cx="262335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Trust levels shown on every bike</a:t>
            </a:r>
            <a:endParaRPr lang="en-US" sz="1300" dirty="0"/>
          </a:p>
        </p:txBody>
      </p:sp>
      <p:pic>
        <p:nvPicPr>
          <p:cNvPr id="21" name="Image 7" descr="CheckCircle">    </p:cNvPr>
          <p:cNvPicPr>
            <a:picLocks noChangeAspect="1"/>
          </p:cNvPicPr>
          <p:nvPr/>
        </p:nvPicPr>
        <p:blipFill>
          <a:blip r:embed="rId8"/>
          <a:srcRect l="0" r="0" t="0" b="0"/>
          <a:stretch/>
        </p:blipFill>
        <p:spPr>
          <a:xfrm>
            <a:off x="1073150" y="4733230"/>
            <a:ext cx="203200" cy="203200"/>
          </a:xfrm>
          <a:prstGeom prst="rect">
            <a:avLst/>
          </a:prstGeom>
        </p:spPr>
      </p:pic>
      <p:sp>
        <p:nvSpPr>
          <p:cNvPr id="22" name="Text 12"/>
          <p:cNvSpPr/>
          <p:nvPr/>
        </p:nvSpPr>
        <p:spPr>
          <a:xfrm>
            <a:off x="1365250" y="4723408"/>
            <a:ext cx="223133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Goodwill points and badges</a:t>
            </a:r>
            <a:endParaRPr lang="en-US" sz="1300" dirty="0"/>
          </a:p>
        </p:txBody>
      </p:sp>
      <p:pic>
        <p:nvPicPr>
          <p:cNvPr id="23" name="Image 8" descr="CheckCircle">    </p:cNvPr>
          <p:cNvPicPr>
            <a:picLocks noChangeAspect="1"/>
          </p:cNvPicPr>
          <p:nvPr/>
        </p:nvPicPr>
        <p:blipFill>
          <a:blip r:embed="rId9"/>
          <a:srcRect l="0" r="0" t="0" b="0"/>
          <a:stretch/>
        </p:blipFill>
        <p:spPr>
          <a:xfrm>
            <a:off x="1073150" y="5044976"/>
            <a:ext cx="203200" cy="203200"/>
          </a:xfrm>
          <a:prstGeom prst="rect">
            <a:avLst/>
          </a:prstGeom>
        </p:spPr>
      </p:pic>
      <p:sp>
        <p:nvSpPr>
          <p:cNvPr id="24" name="Text 13"/>
          <p:cNvSpPr/>
          <p:nvPr/>
        </p:nvSpPr>
        <p:spPr>
          <a:xfrm>
            <a:off x="1365250" y="5035153"/>
            <a:ext cx="340892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Privacy: FEIN hashed, photo GPS removed</a:t>
            </a:r>
            <a:endParaRPr lang="en-US" sz="1300" dirty="0"/>
          </a:p>
        </p:txBody>
      </p:sp>
      <p:pic>
        <p:nvPicPr>
          <p:cNvPr id="25" name="Image 9" descr="CheckCircle">    </p:cNvPr>
          <p:cNvPicPr>
            <a:picLocks noChangeAspect="1"/>
          </p:cNvPicPr>
          <p:nvPr/>
        </p:nvPicPr>
        <p:blipFill>
          <a:blip r:embed="rId10"/>
          <a:srcRect l="0" r="0" t="0" b="0"/>
          <a:stretch/>
        </p:blipFill>
        <p:spPr>
          <a:xfrm>
            <a:off x="1073150" y="5356721"/>
            <a:ext cx="203200" cy="203200"/>
          </a:xfrm>
          <a:prstGeom prst="rect">
            <a:avLst/>
          </a:prstGeom>
        </p:spPr>
      </p:pic>
      <p:sp>
        <p:nvSpPr>
          <p:cNvPr id="26" name="Text 14"/>
          <p:cNvSpPr/>
          <p:nvPr/>
        </p:nvSpPr>
        <p:spPr>
          <a:xfrm>
            <a:off x="1365250" y="5346898"/>
            <a:ext cx="285707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German / English, demo-data mode</a:t>
            </a:r>
            <a:endParaRPr lang="en-US" sz="1300" dirty="0"/>
          </a:p>
        </p:txBody>
      </p:sp>
      <p:sp>
        <p:nvSpPr>
          <p:cNvPr id="27" name="Shape 15"/>
          <p:cNvSpPr/>
          <p:nvPr/>
        </p:nvSpPr>
        <p:spPr>
          <a:xfrm>
            <a:off x="6251575" y="1941116"/>
            <a:ext cx="5124450" cy="3835003"/>
          </a:xfrm>
          <a:prstGeom prst="roundRect">
            <a:avLst>
              <a:gd name="adj" fmla="val 3229"/>
            </a:avLst>
          </a:prstGeom>
          <a:solidFill>
            <a:srgbClr val="134A45"/>
          </a:solidFill>
          <a:ln w="6350">
            <a:solidFill>
              <a:srgbClr val="1F5F58"/>
            </a:solidFill>
            <a:prstDash val="solid"/>
          </a:ln>
        </p:spPr>
      </p:sp>
      <p:sp>
        <p:nvSpPr>
          <p:cNvPr id="28" name="Text 16"/>
          <p:cNvSpPr/>
          <p:nvPr/>
        </p:nvSpPr>
        <p:spPr>
          <a:xfrm>
            <a:off x="6508750" y="2147491"/>
            <a:ext cx="47484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ED02D"/>
                </a:solidFill>
                <a:latin typeface="Inter" pitchFamily="34" charset="0"/>
                <a:ea typeface="Inter" pitchFamily="34" charset="-122"/>
                <a:cs typeface="Inter" pitchFamily="34" charset="-120"/>
              </a:rPr>
              <a:t>Planned</a:t>
            </a:r>
            <a:endParaRPr lang="en-US" sz="2000" dirty="0"/>
          </a:p>
        </p:txBody>
      </p:sp>
      <p:pic>
        <p:nvPicPr>
          <p:cNvPr id="29" name="Image 10" descr="Clock">    </p:cNvPr>
          <p:cNvPicPr>
            <a:picLocks noChangeAspect="1"/>
          </p:cNvPicPr>
          <p:nvPr/>
        </p:nvPicPr>
        <p:blipFill>
          <a:blip r:embed="rId11"/>
          <a:srcRect l="0" r="0" t="0" b="0"/>
          <a:stretch/>
        </p:blipFill>
        <p:spPr>
          <a:xfrm>
            <a:off x="6508750" y="2551013"/>
            <a:ext cx="203200" cy="203200"/>
          </a:xfrm>
          <a:prstGeom prst="rect">
            <a:avLst/>
          </a:prstGeom>
        </p:spPr>
      </p:pic>
      <p:sp>
        <p:nvSpPr>
          <p:cNvPr id="30" name="Text 17"/>
          <p:cNvSpPr/>
          <p:nvPr/>
        </p:nvSpPr>
        <p:spPr>
          <a:xfrm>
            <a:off x="6800850" y="2541191"/>
            <a:ext cx="347995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Partner accounts: bike shops, ADFC events</a:t>
            </a:r>
            <a:endParaRPr lang="en-US" sz="1300" dirty="0"/>
          </a:p>
        </p:txBody>
      </p:sp>
      <p:pic>
        <p:nvPicPr>
          <p:cNvPr id="31" name="Image 11" descr="Clock">    </p:cNvPr>
          <p:cNvPicPr>
            <a:picLocks noChangeAspect="1"/>
          </p:cNvPicPr>
          <p:nvPr/>
        </p:nvPicPr>
        <p:blipFill>
          <a:blip r:embed="rId12"/>
          <a:srcRect l="0" r="0" t="0" b="0"/>
          <a:stretch/>
        </p:blipFill>
        <p:spPr>
          <a:xfrm>
            <a:off x="6508750" y="2862759"/>
            <a:ext cx="203200" cy="203200"/>
          </a:xfrm>
          <a:prstGeom prst="rect">
            <a:avLst/>
          </a:prstGeom>
        </p:spPr>
      </p:pic>
      <p:sp>
        <p:nvSpPr>
          <p:cNvPr id="32" name="Text 18"/>
          <p:cNvSpPr/>
          <p:nvPr/>
        </p:nvSpPr>
        <p:spPr>
          <a:xfrm>
            <a:off x="6800850" y="2852936"/>
            <a:ext cx="366247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Found-bike matching with Fundfahrradstation</a:t>
            </a:r>
            <a:endParaRPr lang="en-US" sz="1300" dirty="0"/>
          </a:p>
        </p:txBody>
      </p:sp>
      <p:pic>
        <p:nvPicPr>
          <p:cNvPr id="33" name="Image 12" descr="Clock">    </p:cNvPr>
          <p:cNvPicPr>
            <a:picLocks noChangeAspect="1"/>
          </p:cNvPicPr>
          <p:nvPr/>
        </p:nvPicPr>
        <p:blipFill>
          <a:blip r:embed="rId13"/>
          <a:srcRect l="0" r="0" t="0" b="0"/>
          <a:stretch/>
        </p:blipFill>
        <p:spPr>
          <a:xfrm>
            <a:off x="6508750" y="3174504"/>
            <a:ext cx="203200" cy="203200"/>
          </a:xfrm>
          <a:prstGeom prst="rect">
            <a:avLst/>
          </a:prstGeom>
        </p:spPr>
      </p:pic>
      <p:sp>
        <p:nvSpPr>
          <p:cNvPr id="34" name="Text 19"/>
          <p:cNvSpPr/>
          <p:nvPr/>
        </p:nvSpPr>
        <p:spPr>
          <a:xfrm>
            <a:off x="6800850" y="3164681"/>
            <a:ext cx="308037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QR tag with anonymous finder contact</a:t>
            </a:r>
            <a:endParaRPr lang="en-US" sz="1300" dirty="0"/>
          </a:p>
        </p:txBody>
      </p:sp>
      <p:pic>
        <p:nvPicPr>
          <p:cNvPr id="35" name="Image 13" descr="Clock">    </p:cNvPr>
          <p:cNvPicPr>
            <a:picLocks noChangeAspect="1"/>
          </p:cNvPicPr>
          <p:nvPr/>
        </p:nvPicPr>
        <p:blipFill>
          <a:blip r:embed="rId14"/>
          <a:srcRect l="0" r="0" t="0" b="0"/>
          <a:stretch/>
        </p:blipFill>
        <p:spPr>
          <a:xfrm>
            <a:off x="6508750" y="3486249"/>
            <a:ext cx="203200" cy="203200"/>
          </a:xfrm>
          <a:prstGeom prst="rect">
            <a:avLst/>
          </a:prstGeom>
        </p:spPr>
      </p:pic>
      <p:sp>
        <p:nvSpPr>
          <p:cNvPr id="36" name="Text 20"/>
          <p:cNvSpPr/>
          <p:nvPr/>
        </p:nvSpPr>
        <p:spPr>
          <a:xfrm>
            <a:off x="6800850" y="3476427"/>
            <a:ext cx="328609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Community sightings matched to owners</a:t>
            </a:r>
            <a:endParaRPr lang="en-US" sz="1300" dirty="0"/>
          </a:p>
        </p:txBody>
      </p:sp>
      <p:pic>
        <p:nvPicPr>
          <p:cNvPr id="37" name="Image 14" descr="Clock">    </p:cNvPr>
          <p:cNvPicPr>
            <a:picLocks noChangeAspect="1"/>
          </p:cNvPicPr>
          <p:nvPr/>
        </p:nvPicPr>
        <p:blipFill>
          <a:blip r:embed="rId15"/>
          <a:srcRect l="0" r="0" t="0" b="0"/>
          <a:stretch/>
        </p:blipFill>
        <p:spPr>
          <a:xfrm>
            <a:off x="6508750" y="3797995"/>
            <a:ext cx="203200" cy="203200"/>
          </a:xfrm>
          <a:prstGeom prst="rect">
            <a:avLst/>
          </a:prstGeom>
        </p:spPr>
      </p:pic>
      <p:sp>
        <p:nvSpPr>
          <p:cNvPr id="38" name="Text 21"/>
          <p:cNvSpPr/>
          <p:nvPr/>
        </p:nvSpPr>
        <p:spPr>
          <a:xfrm>
            <a:off x="6800850" y="3788172"/>
            <a:ext cx="254956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Theft risk map and safe parking</a:t>
            </a:r>
            <a:endParaRPr lang="en-US" sz="1300" dirty="0"/>
          </a:p>
        </p:txBody>
      </p:sp>
      <p:pic>
        <p:nvPicPr>
          <p:cNvPr id="39" name="Image 15" descr="Clock">    </p:cNvPr>
          <p:cNvPicPr>
            <a:picLocks noChangeAspect="1"/>
          </p:cNvPicPr>
          <p:nvPr/>
        </p:nvPicPr>
        <p:blipFill>
          <a:blip r:embed="rId16"/>
          <a:srcRect l="0" r="0" t="0" b="0"/>
          <a:stretch/>
        </p:blipFill>
        <p:spPr>
          <a:xfrm>
            <a:off x="6508750" y="4109740"/>
            <a:ext cx="203200" cy="203200"/>
          </a:xfrm>
          <a:prstGeom prst="rect">
            <a:avLst/>
          </a:prstGeom>
        </p:spPr>
      </p:pic>
      <p:sp>
        <p:nvSpPr>
          <p:cNvPr id="40" name="Text 22"/>
          <p:cNvSpPr/>
          <p:nvPr/>
        </p:nvSpPr>
        <p:spPr>
          <a:xfrm>
            <a:off x="6800850" y="4099917"/>
            <a:ext cx="320883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Leaderboard, referrals, district progress</a:t>
            </a:r>
            <a:endParaRPr lang="en-US" sz="1300" dirty="0"/>
          </a:p>
        </p:txBody>
      </p:sp>
      <p:pic>
        <p:nvPicPr>
          <p:cNvPr id="41" name="Image 16" descr="Clock">    </p:cNvPr>
          <p:cNvPicPr>
            <a:picLocks noChangeAspect="1"/>
          </p:cNvPicPr>
          <p:nvPr/>
        </p:nvPicPr>
        <p:blipFill>
          <a:blip r:embed="rId17"/>
          <a:srcRect l="0" r="0" t="0" b="0"/>
          <a:stretch/>
        </p:blipFill>
        <p:spPr>
          <a:xfrm>
            <a:off x="6508750" y="4421485"/>
            <a:ext cx="203200" cy="203200"/>
          </a:xfrm>
          <a:prstGeom prst="rect">
            <a:avLst/>
          </a:prstGeom>
        </p:spPr>
      </p:pic>
      <p:sp>
        <p:nvSpPr>
          <p:cNvPr id="42" name="Text 23"/>
          <p:cNvSpPr/>
          <p:nvPr/>
        </p:nvSpPr>
        <p:spPr>
          <a:xfrm>
            <a:off x="6800850" y="4411663"/>
            <a:ext cx="227660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Insurance and partner perks</a:t>
            </a:r>
            <a:endParaRPr lang="en-US" sz="1300" dirty="0"/>
          </a:p>
        </p:txBody>
      </p:sp>
      <p:pic>
        <p:nvPicPr>
          <p:cNvPr id="43" name="Image 17" descr="Clock">    </p:cNvPr>
          <p:cNvPicPr>
            <a:picLocks noChangeAspect="1"/>
          </p:cNvPicPr>
          <p:nvPr/>
        </p:nvPicPr>
        <p:blipFill>
          <a:blip r:embed="rId18"/>
          <a:srcRect l="0" r="0" t="0" b="0"/>
          <a:stretch/>
        </p:blipFill>
        <p:spPr>
          <a:xfrm>
            <a:off x="6508750" y="4733230"/>
            <a:ext cx="203200" cy="203200"/>
          </a:xfrm>
          <a:prstGeom prst="rect">
            <a:avLst/>
          </a:prstGeom>
        </p:spPr>
      </p:pic>
      <p:sp>
        <p:nvSpPr>
          <p:cNvPr id="44" name="Text 24"/>
          <p:cNvSpPr/>
          <p:nvPr/>
        </p:nvSpPr>
        <p:spPr>
          <a:xfrm>
            <a:off x="6800850" y="4723408"/>
            <a:ext cx="264961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CFB"/>
                </a:solidFill>
                <a:latin typeface="Inter" pitchFamily="34" charset="0"/>
                <a:ea typeface="Inter" pitchFamily="34" charset="-122"/>
                <a:cs typeface="Inter" pitchFamily="34" charset="-120"/>
              </a:rPr>
              <a:t>Rollout to Göttingen and Freiburg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LeezenPass – MÜNSTERHACK 2026 Final Pitch</dc:title>
  <dc:subject>PptxGenJS Presentation</dc:subject>
  <dc:creator>PptxGenJS</dc:creator>
  <cp:lastModifiedBy>PptxGenJS</cp:lastModifiedBy>
  <cp:revision>1</cp:revision>
  <dcterms:created xsi:type="dcterms:W3CDTF">2026-09-26T13:34:12Z</dcterms:created>
  <dcterms:modified xsi:type="dcterms:W3CDTF">2026-09-26T13:34:12Z</dcterms:modified>
</cp:coreProperties>
</file>